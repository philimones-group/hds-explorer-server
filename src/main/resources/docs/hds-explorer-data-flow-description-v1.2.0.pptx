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7" r:id="rId4"/>
  </p:sldMasterIdLst>
  <p:notesMasterIdLst>
    <p:notesMasterId r:id="rId6"/>
  </p:notesMasterIdLst>
  <p:sldIdLst>
    <p:sldId id="258" r:id="rId5"/>
    <p:sldId id="342" r:id="rId7"/>
    <p:sldId id="317" r:id="rId8"/>
    <p:sldId id="343" r:id="rId9"/>
    <p:sldId id="341" r:id="rId10"/>
    <p:sldId id="331" r:id="rId11"/>
    <p:sldId id="345" r:id="rId12"/>
    <p:sldId id="330" r:id="rId13"/>
    <p:sldId id="332" r:id="rId14"/>
    <p:sldId id="346" r:id="rId15"/>
    <p:sldId id="348" r:id="rId16"/>
    <p:sldId id="349" r:id="rId17"/>
    <p:sldId id="350" r:id="rId18"/>
    <p:sldId id="352" r:id="rId19"/>
    <p:sldId id="347" r:id="rId20"/>
    <p:sldId id="351" r:id="rId21"/>
    <p:sldId id="32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DF990D-E565-48CF-815A-9342308903D6}">
          <p14:sldIdLst>
            <p14:sldId id="258"/>
          </p14:sldIdLst>
        </p14:section>
        <p14:section name="general slides" id="{F2427F4E-4AEE-461C-95C9-BC207578AD3C}">
          <p14:sldIdLst>
            <p14:sldId id="342"/>
            <p14:sldId id="317"/>
            <p14:sldId id="343"/>
            <p14:sldId id="341"/>
            <p14:sldId id="331"/>
            <p14:sldId id="345"/>
            <p14:sldId id="330"/>
            <p14:sldId id="332"/>
            <p14:sldId id="346"/>
            <p14:sldId id="348"/>
            <p14:sldId id="349"/>
            <p14:sldId id="350"/>
            <p14:sldId id="352"/>
            <p14:sldId id="347"/>
            <p14:sldId id="351"/>
            <p14:sldId id="321"/>
          </p14:sldIdLst>
        </p14:section>
        <p14:section name="Overview 1" id="{E193BE20-E84A-4682-9ABF-1B2515869E00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99097" autoAdjust="0"/>
  </p:normalViewPr>
  <p:slideViewPr>
    <p:cSldViewPr snapToGrid="0">
      <p:cViewPr>
        <p:scale>
          <a:sx n="75" d="100"/>
          <a:sy n="75" d="100"/>
        </p:scale>
        <p:origin x="936" y="606"/>
      </p:cViewPr>
      <p:guideLst>
        <p:guide orient="horz" pos="2313"/>
        <p:guide pos="3852"/>
      </p:guideLst>
    </p:cSldViewPr>
  </p:slideViewPr>
  <p:outlineViewPr>
    <p:cViewPr>
      <p:scale>
        <a:sx n="33" d="100"/>
        <a:sy n="33" d="100"/>
      </p:scale>
      <p:origin x="0" y="924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E08C3E-63EB-4C67-9A05-3C56267C3114}" type="doc">
      <dgm:prSet loTypeId="process" loCatId="process" qsTypeId="urn:microsoft.com/office/officeart/2005/8/quickstyle/simple1" qsCatId="simple" csTypeId="urn:microsoft.com/office/officeart/2005/8/colors/accent6_2" csCatId="accent6" phldr="1"/>
      <dgm:spPr/>
      <dgm:t>
        <a:bodyPr/>
        <a:p>
          <a:endParaRPr lang="en-US"/>
        </a:p>
      </dgm:t>
    </dgm:pt>
    <dgm:pt modelId="{9685CDFC-17B5-48DE-916F-312B7F36FE24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pt-BR" sz="1000" b="1" i="0"/>
            <a:t>  </a:t>
          </a:r>
          <a:r>
            <a:rPr lang="pt-BR" altLang="en-US" sz="1000" b="1" i="0"/>
            <a:t>Collect Household Core </a:t>
          </a:r>
          <a:r>
            <a:rPr lang="pt-BR" altLang="en-US" sz="1000" b="1" i="0"/>
            <a:t>Form</a:t>
          </a:r>
          <a:r>
            <a:rPr lang="pt-BR" altLang="en-US" sz="1000" b="1" i="0"/>
            <a:t/>
          </a:r>
          <a:endParaRPr lang="pt-BR" altLang="en-US" sz="1000" b="1" i="0"/>
        </a:p>
      </dgm:t>
    </dgm:pt>
    <dgm:pt modelId="{17F3A647-5EA8-4699-BBD0-33B40DCC3B9A}" cxnId="{7CD10E2B-DDDC-4B60-B30F-F6EEA23B4D58}" type="parTrans">
      <dgm:prSet/>
      <dgm:spPr/>
      <dgm:t>
        <a:bodyPr/>
        <a:p>
          <a:endParaRPr lang="en-US"/>
        </a:p>
      </dgm:t>
    </dgm:pt>
    <dgm:pt modelId="{D57DB654-CD6E-4BD2-AD2B-143693351F06}" cxnId="{7CD10E2B-DDDC-4B60-B30F-F6EEA23B4D58}" type="sibTrans">
      <dgm:prSet/>
      <dgm:spPr/>
      <dgm:t>
        <a:bodyPr/>
        <a:p>
          <a:endParaRPr lang="en-US"/>
        </a:p>
      </dgm:t>
    </dgm:pt>
    <dgm:pt modelId="{F82EAB82-1EF7-4BBC-8F9E-167A98F366FF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BR" altLang="en-US" sz="1400"/>
            <a:t>Uses an internal electronic Forms render software</a:t>
          </a:r>
          <a:endParaRPr lang="pt-BR" altLang="en-US" sz="1400"/>
        </a:p>
      </dgm:t>
    </dgm:pt>
    <dgm:pt modelId="{F8884079-A5B9-450C-9782-A9FACAF89A8D}" cxnId="{6D540B6D-F8F1-46C8-AF59-BA4181B04FC7}" type="parTrans">
      <dgm:prSet/>
      <dgm:spPr/>
      <dgm:t>
        <a:bodyPr/>
        <a:p>
          <a:endParaRPr lang="en-US"/>
        </a:p>
      </dgm:t>
    </dgm:pt>
    <dgm:pt modelId="{0118DDFC-F423-4CE8-8EA9-C4396A2BC536}" cxnId="{6D540B6D-F8F1-46C8-AF59-BA4181B04FC7}" type="sibTrans">
      <dgm:prSet/>
      <dgm:spPr/>
      <dgm:t>
        <a:bodyPr/>
        <a:p>
          <a:endParaRPr lang="en-US"/>
        </a:p>
      </dgm:t>
    </dgm:pt>
    <dgm:pt modelId="{144E5693-0BED-4EC5-BC87-555242E19C5E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BR" altLang="en-US" sz="1400"/>
            <a:t/>
          </a:r>
          <a:endParaRPr lang="pt-BR" altLang="en-US" sz="1400"/>
        </a:p>
      </dgm:t>
    </dgm:pt>
    <dgm:pt modelId="{376E7157-AFF6-4F56-8C15-DB4E67F233E5}" cxnId="{58752EC2-FA50-4C8B-9C5A-555EBF49B7F8}" type="parTrans">
      <dgm:prSet/>
      <dgm:spPr/>
    </dgm:pt>
    <dgm:pt modelId="{D3B03593-62BA-4D66-9F2D-886A428EB9AC}" cxnId="{58752EC2-FA50-4C8B-9C5A-555EBF49B7F8}" type="sibTrans">
      <dgm:prSet/>
      <dgm:spPr/>
    </dgm:pt>
    <dgm:pt modelId="{DC40192C-4214-49B3-A240-5C5411FA7333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BR" sz="1400"/>
            <a:t>Collects the default demographics event questions</a:t>
          </a:r>
          <a:r>
            <a:rPr lang="pt-BR" sz="1400"/>
            <a:t/>
          </a:r>
          <a:endParaRPr lang="pt-BR" sz="1400"/>
        </a:p>
      </dgm:t>
    </dgm:pt>
    <dgm:pt modelId="{284F13B9-90A7-4A7D-BC8B-2AF1400C079B}" cxnId="{105511AB-BF22-405D-AE91-B1C967F22AC4}" type="parTrans">
      <dgm:prSet/>
      <dgm:spPr/>
    </dgm:pt>
    <dgm:pt modelId="{F1E7D741-52F0-42E4-91C5-C433B00A9C07}" cxnId="{105511AB-BF22-405D-AE91-B1C967F22AC4}" type="sibTrans">
      <dgm:prSet/>
      <dgm:spPr/>
    </dgm:pt>
    <dgm:pt modelId="{0BED865F-8240-4C48-A60D-5F91277196E8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pt-BR" sz="900" b="1"/>
            <a:t>  </a:t>
          </a:r>
          <a:r>
            <a:rPr lang="pt-BR" altLang="en-US" sz="900" b="1"/>
            <a:t>Collect Household Extension Form</a:t>
          </a:r>
          <a:r>
            <a:rPr lang="pt-BR" altLang="en-US" sz="900" b="1"/>
            <a:t/>
          </a:r>
          <a:endParaRPr lang="pt-BR" altLang="en-US" sz="900" b="1"/>
        </a:p>
      </dgm:t>
    </dgm:pt>
    <dgm:pt modelId="{41AFB67E-2C96-4FAD-8045-8F8432A1F264}" cxnId="{D1BE03AC-ED8E-4EB1-BCEF-AE1C50B44665}" type="parTrans">
      <dgm:prSet/>
      <dgm:spPr/>
      <dgm:t>
        <a:bodyPr/>
        <a:p>
          <a:endParaRPr lang="en-US"/>
        </a:p>
      </dgm:t>
    </dgm:pt>
    <dgm:pt modelId="{DE48D559-9432-480E-8070-BE6A5DEDF7D6}" cxnId="{D1BE03AC-ED8E-4EB1-BCEF-AE1C50B44665}" type="sibTrans">
      <dgm:prSet/>
      <dgm:spPr/>
      <dgm:t>
        <a:bodyPr/>
        <a:p>
          <a:endParaRPr lang="en-US"/>
        </a:p>
      </dgm:t>
    </dgm:pt>
    <dgm:pt modelId="{D53820F3-C294-4025-B38F-32EC8AAD98E3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BR" altLang="en-US" sz="1400"/>
            <a:t>Uses </a:t>
          </a:r>
          <a:r>
            <a:rPr lang="en-US" altLang="pt-BR" sz="1400"/>
            <a:t>an internal electronic Forms render </a:t>
          </a:r>
          <a:r>
            <a:rPr lang="pt-BR" altLang="en-US" sz="1400"/>
            <a:t>to perform data collection of customized DSS event</a:t>
          </a:r>
          <a:r>
            <a:rPr lang="pt-BR" altLang="en-US" sz="1400"/>
            <a:t/>
          </a:r>
          <a:endParaRPr lang="pt-BR" altLang="en-US" sz="1400"/>
        </a:p>
      </dgm:t>
    </dgm:pt>
    <dgm:pt modelId="{EC3B82B8-8FBE-4703-BB78-A5AC054C1322}" cxnId="{78FF0FFB-0A0A-4B2B-8142-CE8CF1BE14FC}" type="parTrans">
      <dgm:prSet/>
      <dgm:spPr/>
      <dgm:t>
        <a:bodyPr/>
        <a:p>
          <a:endParaRPr lang="en-US"/>
        </a:p>
      </dgm:t>
    </dgm:pt>
    <dgm:pt modelId="{7CE57ABA-6D05-4B6B-85C0-92CECBF8DBC2}" cxnId="{78FF0FFB-0A0A-4B2B-8142-CE8CF1BE14FC}" type="sibTrans">
      <dgm:prSet/>
      <dgm:spPr/>
      <dgm:t>
        <a:bodyPr/>
        <a:p>
          <a:endParaRPr lang="en-US"/>
        </a:p>
      </dgm:t>
    </dgm:pt>
    <dgm:pt modelId="{4F7D8675-1F3D-46F1-84FE-823D921A5031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BR" altLang="en-US" sz="1400"/>
            <a:t/>
          </a:r>
          <a:endParaRPr lang="pt-BR" altLang="en-US" sz="1400"/>
        </a:p>
      </dgm:t>
    </dgm:pt>
    <dgm:pt modelId="{B55B845C-328D-42B5-96A9-549D0DB5C130}" cxnId="{2A933C67-E909-4CC3-AFD2-2F7467BEF629}" type="parTrans">
      <dgm:prSet/>
      <dgm:spPr/>
    </dgm:pt>
    <dgm:pt modelId="{4FDA13F6-4EA4-4D4D-BBB8-3F94CE8345A4}" cxnId="{2A933C67-E909-4CC3-AFD2-2F7467BEF629}" type="sibTrans">
      <dgm:prSet/>
      <dgm:spPr/>
    </dgm:pt>
    <dgm:pt modelId="{0781F3BC-B379-437D-8F11-E567FB5220D0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BR" altLang="en-US" sz="1400"/>
            <a:t>Opens automatically as long as its enabled</a:t>
          </a:r>
          <a:r>
            <a:rPr lang="pt-BR" altLang="en-US" sz="1400"/>
            <a:t/>
          </a:r>
          <a:endParaRPr lang="pt-BR" altLang="en-US" sz="1400"/>
        </a:p>
      </dgm:t>
    </dgm:pt>
    <dgm:pt modelId="{6B102C81-39B6-4B53-BDE0-1E902BE1BE8D}" cxnId="{6D5B72FE-8B1A-4E0F-9A95-5230BBE0F700}" type="parTrans">
      <dgm:prSet/>
      <dgm:spPr/>
    </dgm:pt>
    <dgm:pt modelId="{E0BEBB09-8113-4A77-8B25-377450B5762E}" cxnId="{6D5B72FE-8B1A-4E0F-9A95-5230BBE0F700}" type="sibTrans">
      <dgm:prSet/>
      <dgm:spPr/>
    </dgm:pt>
    <dgm:pt modelId="{04FA3228-76EA-4B0B-9349-17714CDDFD43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pt-BR" sz="900" b="1" i="0"/>
            <a:t>  </a:t>
          </a:r>
          <a:r>
            <a:rPr lang="pt-BR" altLang="en-US" sz="900" b="1" i="0"/>
            <a:t>Data </a:t>
          </a:r>
          <a:r>
            <a:rPr lang="pt-BR" altLang="en-US" sz="1000" b="1" i="0"/>
            <a:t>packaged</a:t>
          </a:r>
          <a:r>
            <a:rPr lang="pt-BR" altLang="en-US" sz="1000" b="1" i="0"/>
            <a:t/>
          </a:r>
          <a:endParaRPr lang="pt-BR" altLang="en-US" sz="1000" b="1" i="0"/>
        </a:p>
      </dgm:t>
    </dgm:pt>
    <dgm:pt modelId="{6676A36A-0338-418A-BB6B-FCAC5DFCFA6D}" cxnId="{69A3DB17-860C-40DE-AD92-E98609376510}" type="parTrans">
      <dgm:prSet/>
      <dgm:spPr/>
      <dgm:t>
        <a:bodyPr/>
        <a:p>
          <a:endParaRPr lang="en-US"/>
        </a:p>
      </dgm:t>
    </dgm:pt>
    <dgm:pt modelId="{3C3AA3B4-8FCB-436D-917A-D265C275996C}" cxnId="{69A3DB17-860C-40DE-AD92-E98609376510}" type="sibTrans">
      <dgm:prSet/>
      <dgm:spPr/>
      <dgm:t>
        <a:bodyPr/>
        <a:p>
          <a:endParaRPr lang="en-US"/>
        </a:p>
      </dgm:t>
    </dgm:pt>
    <dgm:pt modelId="{AF170A4D-256F-4021-89C1-760ADEBC7F4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BR" altLang="en-US" sz="1400"/>
            <a:t>Both forms a packaged as one XML data type and sent to HDS-Explorer server</a:t>
          </a:r>
          <a:r>
            <a:rPr lang="pt-BR" altLang="en-US" sz="1400"/>
            <a:t/>
          </a:r>
          <a:endParaRPr lang="pt-BR" altLang="en-US" sz="1400"/>
        </a:p>
      </dgm:t>
    </dgm:pt>
    <dgm:pt modelId="{33751903-821B-4150-B394-A6D74875182D}" cxnId="{37D44879-5069-4CAA-958A-756D111FF2F4}" type="parTrans">
      <dgm:prSet/>
      <dgm:spPr/>
      <dgm:t>
        <a:bodyPr/>
        <a:p>
          <a:endParaRPr lang="en-US"/>
        </a:p>
      </dgm:t>
    </dgm:pt>
    <dgm:pt modelId="{CB6014BB-FE19-4CD6-901F-A9C807527155}" cxnId="{37D44879-5069-4CAA-958A-756D111FF2F4}" type="sibTrans">
      <dgm:prSet/>
      <dgm:spPr/>
      <dgm:t>
        <a:bodyPr/>
        <a:p>
          <a:endParaRPr lang="en-US"/>
        </a:p>
      </dgm:t>
    </dgm:pt>
    <dgm:pt modelId="{A6D89765-83DD-48B6-8E65-561E694DC876}" type="pres">
      <dgm:prSet presAssocID="{C1E08C3E-63EB-4C67-9A05-3C56267C3114}" presName="linearFlow" presStyleCnt="0">
        <dgm:presLayoutVars>
          <dgm:dir/>
          <dgm:animLvl val="lvl"/>
          <dgm:resizeHandles val="exact"/>
        </dgm:presLayoutVars>
      </dgm:prSet>
      <dgm:spPr/>
    </dgm:pt>
    <dgm:pt modelId="{C32A0CB0-F263-4EEF-B293-D42C1BEC1F15}" type="pres">
      <dgm:prSet presAssocID="{9685CDFC-17B5-48DE-916F-312B7F36FE24}" presName="composite" presStyleCnt="0"/>
      <dgm:spPr/>
    </dgm:pt>
    <dgm:pt modelId="{54FD9052-343F-4008-B3A4-E3A9FDBBDDC9}" type="pres">
      <dgm:prSet presAssocID="{9685CDFC-17B5-48DE-916F-312B7F36FE24}" presName="parTx" presStyleCnt="0">
        <dgm:presLayoutVars>
          <dgm:chMax val="0"/>
          <dgm:chPref val="0"/>
          <dgm:bulletEnabled val="1"/>
        </dgm:presLayoutVars>
      </dgm:prSet>
      <dgm:spPr/>
    </dgm:pt>
    <dgm:pt modelId="{54713248-35C0-408E-A34F-40B0BF7850A3}" type="pres">
      <dgm:prSet presAssocID="{9685CDFC-17B5-48DE-916F-312B7F36FE24}" presName="parSh" presStyleLbl="node1" presStyleIdx="0" presStyleCnt="3"/>
      <dgm:spPr/>
    </dgm:pt>
    <dgm:pt modelId="{1BB15D25-BA99-4A5F-A971-D49B200015FF}" type="pres">
      <dgm:prSet presAssocID="{9685CDFC-17B5-48DE-916F-312B7F36FE24}" presName="desTx" presStyleLbl="fgAcc1" presStyleIdx="0" presStyleCnt="3">
        <dgm:presLayoutVars>
          <dgm:bulletEnabled val="1"/>
        </dgm:presLayoutVars>
      </dgm:prSet>
      <dgm:spPr/>
    </dgm:pt>
    <dgm:pt modelId="{726ECF32-BF5D-4953-9E07-3330DBB289F4}" type="pres">
      <dgm:prSet presAssocID="{D57DB654-CD6E-4BD2-AD2B-143693351F06}" presName="sibTrans" presStyleLbl="sibTrans2D1" presStyleIdx="0" presStyleCnt="2"/>
      <dgm:spPr/>
    </dgm:pt>
    <dgm:pt modelId="{8178BD17-45C0-4143-B06A-A3E6AD01BB11}" type="pres">
      <dgm:prSet presAssocID="{D57DB654-CD6E-4BD2-AD2B-143693351F06}" presName="connTx" presStyleCnt="0"/>
      <dgm:spPr/>
    </dgm:pt>
    <dgm:pt modelId="{5FF8F5C6-C9C6-4402-9CD3-EF4EA67C9D94}" type="pres">
      <dgm:prSet presAssocID="{0BED865F-8240-4C48-A60D-5F91277196E8}" presName="composite" presStyleCnt="0"/>
      <dgm:spPr/>
    </dgm:pt>
    <dgm:pt modelId="{EB3089EC-0380-47EF-B6FC-05BEA3E72C30}" type="pres">
      <dgm:prSet presAssocID="{0BED865F-8240-4C48-A60D-5F91277196E8}" presName="parTx" presStyleCnt="0">
        <dgm:presLayoutVars>
          <dgm:chMax val="0"/>
          <dgm:chPref val="0"/>
          <dgm:bulletEnabled val="1"/>
        </dgm:presLayoutVars>
      </dgm:prSet>
      <dgm:spPr/>
    </dgm:pt>
    <dgm:pt modelId="{CFCD6376-C841-4E13-9F90-3E9A5539FFDA}" type="pres">
      <dgm:prSet presAssocID="{0BED865F-8240-4C48-A60D-5F91277196E8}" presName="parSh" presStyleLbl="node1" presStyleIdx="1" presStyleCnt="3"/>
      <dgm:spPr/>
    </dgm:pt>
    <dgm:pt modelId="{8FFFDB75-C362-4ADB-9B1C-AB26C24BD71E}" type="pres">
      <dgm:prSet presAssocID="{0BED865F-8240-4C48-A60D-5F91277196E8}" presName="desTx" presStyleLbl="fgAcc1" presStyleIdx="1" presStyleCnt="3">
        <dgm:presLayoutVars>
          <dgm:bulletEnabled val="1"/>
        </dgm:presLayoutVars>
      </dgm:prSet>
      <dgm:spPr/>
    </dgm:pt>
    <dgm:pt modelId="{8311C478-C5BE-49B7-8183-C8C369ACAB9C}" type="pres">
      <dgm:prSet presAssocID="{DE48D559-9432-480E-8070-BE6A5DEDF7D6}" presName="sibTrans" presStyleLbl="sibTrans2D1" presStyleIdx="1" presStyleCnt="2"/>
      <dgm:spPr/>
    </dgm:pt>
    <dgm:pt modelId="{83A37B3E-A51D-4EA7-9349-B3B5FD82CB19}" type="pres">
      <dgm:prSet presAssocID="{DE48D559-9432-480E-8070-BE6A5DEDF7D6}" presName="connTx" presStyleCnt="0"/>
      <dgm:spPr/>
    </dgm:pt>
    <dgm:pt modelId="{6955C8C4-8E17-4657-A115-47421024C93A}" type="pres">
      <dgm:prSet presAssocID="{04FA3228-76EA-4B0B-9349-17714CDDFD43}" presName="composite" presStyleCnt="0"/>
      <dgm:spPr/>
    </dgm:pt>
    <dgm:pt modelId="{A6672DD8-47BC-4074-A8E6-6A0392CDC295}" type="pres">
      <dgm:prSet presAssocID="{04FA3228-76EA-4B0B-9349-17714CDDFD43}" presName="parTx" presStyleCnt="0">
        <dgm:presLayoutVars>
          <dgm:chMax val="0"/>
          <dgm:chPref val="0"/>
          <dgm:bulletEnabled val="1"/>
        </dgm:presLayoutVars>
      </dgm:prSet>
      <dgm:spPr/>
    </dgm:pt>
    <dgm:pt modelId="{0833A503-73DD-4E6E-B5F1-DE9755875437}" type="pres">
      <dgm:prSet presAssocID="{04FA3228-76EA-4B0B-9349-17714CDDFD43}" presName="parSh" presStyleLbl="node1" presStyleIdx="2" presStyleCnt="3"/>
      <dgm:spPr/>
    </dgm:pt>
    <dgm:pt modelId="{84FA9C82-24F9-4AEC-8BD9-A387E990C84D}" type="pres">
      <dgm:prSet presAssocID="{04FA3228-76EA-4B0B-9349-17714CDDFD43}" presName="desTx" presStyleLbl="fgAcc1" presStyleIdx="2" presStyleCnt="3">
        <dgm:presLayoutVars>
          <dgm:bulletEnabled val="1"/>
        </dgm:presLayoutVars>
      </dgm:prSet>
      <dgm:spPr/>
    </dgm:pt>
  </dgm:ptLst>
  <dgm:cxnLst>
    <dgm:cxn modelId="{7CD10E2B-DDDC-4B60-B30F-F6EEA23B4D58}" srcId="{C1E08C3E-63EB-4C67-9A05-3C56267C3114}" destId="{9685CDFC-17B5-48DE-916F-312B7F36FE24}" srcOrd="0" destOrd="0" parTransId="{17F3A647-5EA8-4699-BBD0-33B40DCC3B9A}" sibTransId="{D57DB654-CD6E-4BD2-AD2B-143693351F06}"/>
    <dgm:cxn modelId="{6D540B6D-F8F1-46C8-AF59-BA4181B04FC7}" srcId="{9685CDFC-17B5-48DE-916F-312B7F36FE24}" destId="{F82EAB82-1EF7-4BBC-8F9E-167A98F366FF}" srcOrd="0" destOrd="0" parTransId="{F8884079-A5B9-450C-9782-A9FACAF89A8D}" sibTransId="{0118DDFC-F423-4CE8-8EA9-C4396A2BC536}"/>
    <dgm:cxn modelId="{58752EC2-FA50-4C8B-9C5A-555EBF49B7F8}" srcId="{9685CDFC-17B5-48DE-916F-312B7F36FE24}" destId="{144E5693-0BED-4EC5-BC87-555242E19C5E}" srcOrd="1" destOrd="0" parTransId="{376E7157-AFF6-4F56-8C15-DB4E67F233E5}" sibTransId="{D3B03593-62BA-4D66-9F2D-886A428EB9AC}"/>
    <dgm:cxn modelId="{105511AB-BF22-405D-AE91-B1C967F22AC4}" srcId="{9685CDFC-17B5-48DE-916F-312B7F36FE24}" destId="{DC40192C-4214-49B3-A240-5C5411FA7333}" srcOrd="2" destOrd="0" parTransId="{284F13B9-90A7-4A7D-BC8B-2AF1400C079B}" sibTransId="{F1E7D741-52F0-42E4-91C5-C433B00A9C07}"/>
    <dgm:cxn modelId="{D1BE03AC-ED8E-4EB1-BCEF-AE1C50B44665}" srcId="{C1E08C3E-63EB-4C67-9A05-3C56267C3114}" destId="{0BED865F-8240-4C48-A60D-5F91277196E8}" srcOrd="1" destOrd="0" parTransId="{41AFB67E-2C96-4FAD-8045-8F8432A1F264}" sibTransId="{DE48D559-9432-480E-8070-BE6A5DEDF7D6}"/>
    <dgm:cxn modelId="{78FF0FFB-0A0A-4B2B-8142-CE8CF1BE14FC}" srcId="{0BED865F-8240-4C48-A60D-5F91277196E8}" destId="{D53820F3-C294-4025-B38F-32EC8AAD98E3}" srcOrd="0" destOrd="1" parTransId="{EC3B82B8-8FBE-4703-BB78-A5AC054C1322}" sibTransId="{7CE57ABA-6D05-4B6B-85C0-92CECBF8DBC2}"/>
    <dgm:cxn modelId="{2A933C67-E909-4CC3-AFD2-2F7467BEF629}" srcId="{0BED865F-8240-4C48-A60D-5F91277196E8}" destId="{4F7D8675-1F3D-46F1-84FE-823D921A5031}" srcOrd="1" destOrd="1" parTransId="{B55B845C-328D-42B5-96A9-549D0DB5C130}" sibTransId="{4FDA13F6-4EA4-4D4D-BBB8-3F94CE8345A4}"/>
    <dgm:cxn modelId="{6D5B72FE-8B1A-4E0F-9A95-5230BBE0F700}" srcId="{0BED865F-8240-4C48-A60D-5F91277196E8}" destId="{0781F3BC-B379-437D-8F11-E567FB5220D0}" srcOrd="2" destOrd="1" parTransId="{6B102C81-39B6-4B53-BDE0-1E902BE1BE8D}" sibTransId="{E0BEBB09-8113-4A77-8B25-377450B5762E}"/>
    <dgm:cxn modelId="{69A3DB17-860C-40DE-AD92-E98609376510}" srcId="{C1E08C3E-63EB-4C67-9A05-3C56267C3114}" destId="{04FA3228-76EA-4B0B-9349-17714CDDFD43}" srcOrd="2" destOrd="0" parTransId="{6676A36A-0338-418A-BB6B-FCAC5DFCFA6D}" sibTransId="{3C3AA3B4-8FCB-436D-917A-D265C275996C}"/>
    <dgm:cxn modelId="{37D44879-5069-4CAA-958A-756D111FF2F4}" srcId="{04FA3228-76EA-4B0B-9349-17714CDDFD43}" destId="{AF170A4D-256F-4021-89C1-760ADEBC7F4C}" srcOrd="0" destOrd="2" parTransId="{33751903-821B-4150-B394-A6D74875182D}" sibTransId="{CB6014BB-FE19-4CD6-901F-A9C807527155}"/>
    <dgm:cxn modelId="{2ACE93CD-BBA5-4843-AA44-458FD03BF256}" type="presOf" srcId="{C1E08C3E-63EB-4C67-9A05-3C56267C3114}" destId="{A6D89765-83DD-48B6-8E65-561E694DC876}" srcOrd="0" destOrd="0" presId="urn:microsoft.com/office/officeart/2005/8/layout/process3"/>
    <dgm:cxn modelId="{0C5FEE36-8B94-42C7-B235-16DC26BCA67B}" type="presParOf" srcId="{A6D89765-83DD-48B6-8E65-561E694DC876}" destId="{C32A0CB0-F263-4EEF-B293-D42C1BEC1F15}" srcOrd="0" destOrd="0" presId="urn:microsoft.com/office/officeart/2005/8/layout/process3"/>
    <dgm:cxn modelId="{8E8966D8-B2A7-4296-BB97-643EFA6D80E4}" type="presParOf" srcId="{C32A0CB0-F263-4EEF-B293-D42C1BEC1F15}" destId="{54FD9052-343F-4008-B3A4-E3A9FDBBDDC9}" srcOrd="0" destOrd="0" presId="urn:microsoft.com/office/officeart/2005/8/layout/process3"/>
    <dgm:cxn modelId="{12A4B950-C65E-4622-A144-1236607F23F9}" type="presOf" srcId="{9685CDFC-17B5-48DE-916F-312B7F36FE24}" destId="{54FD9052-343F-4008-B3A4-E3A9FDBBDDC9}" srcOrd="1" destOrd="0" presId="urn:microsoft.com/office/officeart/2005/8/layout/process3"/>
    <dgm:cxn modelId="{8ABF80A9-48EF-4E4A-8D4C-8B7A881E8C86}" type="presParOf" srcId="{C32A0CB0-F263-4EEF-B293-D42C1BEC1F15}" destId="{54713248-35C0-408E-A34F-40B0BF7850A3}" srcOrd="1" destOrd="0" presId="urn:microsoft.com/office/officeart/2005/8/layout/process3"/>
    <dgm:cxn modelId="{27CEBB8F-7647-49FE-966E-741CB56CA043}" type="presOf" srcId="{9685CDFC-17B5-48DE-916F-312B7F36FE24}" destId="{54713248-35C0-408E-A34F-40B0BF7850A3}" srcOrd="0" destOrd="0" presId="urn:microsoft.com/office/officeart/2005/8/layout/process3"/>
    <dgm:cxn modelId="{FFD5870F-F817-4024-BD40-F2831B78F7E2}" type="presParOf" srcId="{C32A0CB0-F263-4EEF-B293-D42C1BEC1F15}" destId="{1BB15D25-BA99-4A5F-A971-D49B200015FF}" srcOrd="2" destOrd="0" presId="urn:microsoft.com/office/officeart/2005/8/layout/process3"/>
    <dgm:cxn modelId="{2AE01CE5-75B3-4E28-A1EA-AC79718651F9}" type="presOf" srcId="{F82EAB82-1EF7-4BBC-8F9E-167A98F366FF}" destId="{1BB15D25-BA99-4A5F-A971-D49B200015FF}" srcOrd="0" destOrd="0" presId="urn:microsoft.com/office/officeart/2005/8/layout/process3"/>
    <dgm:cxn modelId="{C411FAD7-0EE9-4F0A-9335-BF66E85310C2}" type="presOf" srcId="{144E5693-0BED-4EC5-BC87-555242E19C5E}" destId="{1BB15D25-BA99-4A5F-A971-D49B200015FF}" srcOrd="0" destOrd="1" presId="urn:microsoft.com/office/officeart/2005/8/layout/process3"/>
    <dgm:cxn modelId="{68CB3713-1AA7-4C4C-AA57-5DC6F6C9CE80}" type="presOf" srcId="{DC40192C-4214-49B3-A240-5C5411FA7333}" destId="{1BB15D25-BA99-4A5F-A971-D49B200015FF}" srcOrd="0" destOrd="2" presId="urn:microsoft.com/office/officeart/2005/8/layout/process3"/>
    <dgm:cxn modelId="{050C20A0-9DB2-443A-B2A0-BD6E591E4F20}" type="presParOf" srcId="{A6D89765-83DD-48B6-8E65-561E694DC876}" destId="{726ECF32-BF5D-4953-9E07-3330DBB289F4}" srcOrd="1" destOrd="0" presId="urn:microsoft.com/office/officeart/2005/8/layout/process3"/>
    <dgm:cxn modelId="{E063613B-07B2-49C7-87FB-B36F7C79EBA9}" type="presOf" srcId="{D57DB654-CD6E-4BD2-AD2B-143693351F06}" destId="{726ECF32-BF5D-4953-9E07-3330DBB289F4}" srcOrd="0" destOrd="0" presId="urn:microsoft.com/office/officeart/2005/8/layout/process3"/>
    <dgm:cxn modelId="{C4D202F8-6F9F-489A-B1A3-7686FBD15DCD}" type="presParOf" srcId="{726ECF32-BF5D-4953-9E07-3330DBB289F4}" destId="{8178BD17-45C0-4143-B06A-A3E6AD01BB11}" srcOrd="0" destOrd="1" presId="urn:microsoft.com/office/officeart/2005/8/layout/process3"/>
    <dgm:cxn modelId="{95C3FB05-83C4-4FDC-AF18-5EC0CD4A7C3E}" type="presOf" srcId="{D57DB654-CD6E-4BD2-AD2B-143693351F06}" destId="{8178BD17-45C0-4143-B06A-A3E6AD01BB11}" srcOrd="1" destOrd="0" presId="urn:microsoft.com/office/officeart/2005/8/layout/process3"/>
    <dgm:cxn modelId="{BDEAA836-A169-4633-9ADD-F0427B430B6E}" type="presParOf" srcId="{A6D89765-83DD-48B6-8E65-561E694DC876}" destId="{5FF8F5C6-C9C6-4402-9CD3-EF4EA67C9D94}" srcOrd="2" destOrd="0" presId="urn:microsoft.com/office/officeart/2005/8/layout/process3"/>
    <dgm:cxn modelId="{A80A5187-6A31-4A89-8733-D0351E0AA85F}" type="presParOf" srcId="{5FF8F5C6-C9C6-4402-9CD3-EF4EA67C9D94}" destId="{EB3089EC-0380-47EF-B6FC-05BEA3E72C30}" srcOrd="0" destOrd="2" presId="urn:microsoft.com/office/officeart/2005/8/layout/process3"/>
    <dgm:cxn modelId="{1716B443-E06B-4B6D-8713-CB3D6AE59BA6}" type="presOf" srcId="{0BED865F-8240-4C48-A60D-5F91277196E8}" destId="{EB3089EC-0380-47EF-B6FC-05BEA3E72C30}" srcOrd="1" destOrd="0" presId="urn:microsoft.com/office/officeart/2005/8/layout/process3"/>
    <dgm:cxn modelId="{77408B54-6852-43B8-9FED-73E7DC9BDC44}" type="presParOf" srcId="{5FF8F5C6-C9C6-4402-9CD3-EF4EA67C9D94}" destId="{CFCD6376-C841-4E13-9F90-3E9A5539FFDA}" srcOrd="1" destOrd="2" presId="urn:microsoft.com/office/officeart/2005/8/layout/process3"/>
    <dgm:cxn modelId="{DE0030A2-7AA7-43AF-8127-0F48D56C4F03}" type="presOf" srcId="{0BED865F-8240-4C48-A60D-5F91277196E8}" destId="{CFCD6376-C841-4E13-9F90-3E9A5539FFDA}" srcOrd="0" destOrd="0" presId="urn:microsoft.com/office/officeart/2005/8/layout/process3"/>
    <dgm:cxn modelId="{2AEDB434-5921-4563-B3A7-4A83B527280E}" type="presParOf" srcId="{5FF8F5C6-C9C6-4402-9CD3-EF4EA67C9D94}" destId="{8FFFDB75-C362-4ADB-9B1C-AB26C24BD71E}" srcOrd="2" destOrd="2" presId="urn:microsoft.com/office/officeart/2005/8/layout/process3"/>
    <dgm:cxn modelId="{546C2EE6-0078-422E-9930-CA83BAAB08A6}" type="presOf" srcId="{D53820F3-C294-4025-B38F-32EC8AAD98E3}" destId="{8FFFDB75-C362-4ADB-9B1C-AB26C24BD71E}" srcOrd="0" destOrd="0" presId="urn:microsoft.com/office/officeart/2005/8/layout/process3"/>
    <dgm:cxn modelId="{DF3476E1-D827-4F7D-9AC1-133B5F7E6319}" type="presOf" srcId="{4F7D8675-1F3D-46F1-84FE-823D921A5031}" destId="{8FFFDB75-C362-4ADB-9B1C-AB26C24BD71E}" srcOrd="0" destOrd="1" presId="urn:microsoft.com/office/officeart/2005/8/layout/process3"/>
    <dgm:cxn modelId="{6D347F52-9990-4C3B-ABA1-BB1706AED89C}" type="presOf" srcId="{0781F3BC-B379-437D-8F11-E567FB5220D0}" destId="{8FFFDB75-C362-4ADB-9B1C-AB26C24BD71E}" srcOrd="0" destOrd="2" presId="urn:microsoft.com/office/officeart/2005/8/layout/process3"/>
    <dgm:cxn modelId="{F5D1884F-BD68-4CCA-9D9C-0B42E8791AD3}" type="presParOf" srcId="{A6D89765-83DD-48B6-8E65-561E694DC876}" destId="{8311C478-C5BE-49B7-8183-C8C369ACAB9C}" srcOrd="3" destOrd="0" presId="urn:microsoft.com/office/officeart/2005/8/layout/process3"/>
    <dgm:cxn modelId="{4FD6C8B1-02C7-4AD8-AE70-D6E710AFC425}" type="presOf" srcId="{DE48D559-9432-480E-8070-BE6A5DEDF7D6}" destId="{8311C478-C5BE-49B7-8183-C8C369ACAB9C}" srcOrd="0" destOrd="0" presId="urn:microsoft.com/office/officeart/2005/8/layout/process3"/>
    <dgm:cxn modelId="{1F74AA43-6F47-4668-A785-82382FD5DBBF}" type="presParOf" srcId="{8311C478-C5BE-49B7-8183-C8C369ACAB9C}" destId="{83A37B3E-A51D-4EA7-9349-B3B5FD82CB19}" srcOrd="0" destOrd="3" presId="urn:microsoft.com/office/officeart/2005/8/layout/process3"/>
    <dgm:cxn modelId="{71ECE81B-9781-4625-AD7B-E6963D15D5D7}" type="presOf" srcId="{DE48D559-9432-480E-8070-BE6A5DEDF7D6}" destId="{83A37B3E-A51D-4EA7-9349-B3B5FD82CB19}" srcOrd="1" destOrd="0" presId="urn:microsoft.com/office/officeart/2005/8/layout/process3"/>
    <dgm:cxn modelId="{F307C497-70CA-4BBC-820E-FD865FC6FF0C}" type="presParOf" srcId="{A6D89765-83DD-48B6-8E65-561E694DC876}" destId="{6955C8C4-8E17-4657-A115-47421024C93A}" srcOrd="4" destOrd="0" presId="urn:microsoft.com/office/officeart/2005/8/layout/process3"/>
    <dgm:cxn modelId="{8849D824-9373-4A20-943F-EA6AC09A27C7}" type="presParOf" srcId="{6955C8C4-8E17-4657-A115-47421024C93A}" destId="{A6672DD8-47BC-4074-A8E6-6A0392CDC295}" srcOrd="0" destOrd="4" presId="urn:microsoft.com/office/officeart/2005/8/layout/process3"/>
    <dgm:cxn modelId="{9C63B456-D66C-4344-B0B7-47385AEFA381}" type="presOf" srcId="{04FA3228-76EA-4B0B-9349-17714CDDFD43}" destId="{A6672DD8-47BC-4074-A8E6-6A0392CDC295}" srcOrd="1" destOrd="0" presId="urn:microsoft.com/office/officeart/2005/8/layout/process3"/>
    <dgm:cxn modelId="{1C24EC0E-2285-4CD0-9409-C1D46D63C0D3}" type="presParOf" srcId="{6955C8C4-8E17-4657-A115-47421024C93A}" destId="{0833A503-73DD-4E6E-B5F1-DE9755875437}" srcOrd="1" destOrd="4" presId="urn:microsoft.com/office/officeart/2005/8/layout/process3"/>
    <dgm:cxn modelId="{42B15170-697D-4537-9010-BCC4F467176A}" type="presOf" srcId="{04FA3228-76EA-4B0B-9349-17714CDDFD43}" destId="{0833A503-73DD-4E6E-B5F1-DE9755875437}" srcOrd="0" destOrd="0" presId="urn:microsoft.com/office/officeart/2005/8/layout/process3"/>
    <dgm:cxn modelId="{028559BA-032B-4ABB-BE29-F4D8647E4877}" type="presParOf" srcId="{6955C8C4-8E17-4657-A115-47421024C93A}" destId="{84FA9C82-24F9-4AEC-8BD9-A387E990C84D}" srcOrd="2" destOrd="4" presId="urn:microsoft.com/office/officeart/2005/8/layout/process3"/>
    <dgm:cxn modelId="{A0BC9C5D-47AE-4E33-A144-196DF081E598}" type="presOf" srcId="{AF170A4D-256F-4021-89C1-760ADEBC7F4C}" destId="{84FA9C82-24F9-4AEC-8BD9-A387E990C84D}" srcOrd="0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13248-35C0-408E-A34F-40B0BF7850A3}">
      <dsp:nvSpPr>
        <dsp:cNvPr id="0" name=""/>
        <dsp:cNvSpPr/>
      </dsp:nvSpPr>
      <dsp:spPr>
        <a:xfrm>
          <a:off x="3719" y="141374"/>
          <a:ext cx="839132" cy="302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26670" numCol="1" spcCol="1270" anchor="t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kern="1200"/>
            <a:t>Hierarchy Level 1</a:t>
          </a:r>
          <a:endParaRPr lang="en-US" sz="700" kern="1200"/>
        </a:p>
      </dsp:txBody>
      <dsp:txXfrm>
        <a:off x="3719" y="141374"/>
        <a:ext cx="839132" cy="201600"/>
      </dsp:txXfrm>
    </dsp:sp>
    <dsp:sp modelId="{1BB15D25-BA99-4A5F-A971-D49B200015FF}">
      <dsp:nvSpPr>
        <dsp:cNvPr id="0" name=""/>
        <dsp:cNvSpPr/>
      </dsp:nvSpPr>
      <dsp:spPr>
        <a:xfrm>
          <a:off x="175589" y="342975"/>
          <a:ext cx="839132" cy="1420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9784" rIns="49784" bIns="49784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Represents the maximum level if the maximum demographic scope is a single continent, this element can be for example a </a:t>
          </a:r>
          <a:r>
            <a:rPr lang="en-US" sz="700" b="1" kern="1200"/>
            <a:t>country</a:t>
          </a:r>
          <a:r>
            <a:rPr lang="en-US" sz="700" kern="1200"/>
            <a:t>.</a:t>
          </a:r>
        </a:p>
      </dsp:txBody>
      <dsp:txXfrm>
        <a:off x="200166" y="367552"/>
        <a:ext cx="789978" cy="1371496"/>
      </dsp:txXfrm>
    </dsp:sp>
    <dsp:sp modelId="{726ECF32-BF5D-4953-9E07-3330DBB289F4}">
      <dsp:nvSpPr>
        <dsp:cNvPr id="0" name=""/>
        <dsp:cNvSpPr/>
      </dsp:nvSpPr>
      <dsp:spPr>
        <a:xfrm>
          <a:off x="970061" y="137715"/>
          <a:ext cx="269684" cy="20891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shade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970061" y="179499"/>
        <a:ext cx="207008" cy="125351"/>
      </dsp:txXfrm>
    </dsp:sp>
    <dsp:sp modelId="{CFCD6376-C841-4E13-9F90-3E9A5539FFDA}">
      <dsp:nvSpPr>
        <dsp:cNvPr id="0" name=""/>
        <dsp:cNvSpPr/>
      </dsp:nvSpPr>
      <dsp:spPr>
        <a:xfrm>
          <a:off x="1351689" y="141374"/>
          <a:ext cx="839132" cy="302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80320"/>
                <a:satOff val="-3227"/>
                <a:lumOff val="69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80320"/>
                <a:satOff val="-3227"/>
                <a:lumOff val="69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80320"/>
                <a:satOff val="-3227"/>
                <a:lumOff val="69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26670" numCol="1" spcCol="1270" anchor="t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kern="1200"/>
            <a:t>Hierarchy Level 2</a:t>
          </a:r>
          <a:endParaRPr lang="en-US" sz="700" kern="1200"/>
        </a:p>
      </dsp:txBody>
      <dsp:txXfrm>
        <a:off x="1351689" y="141374"/>
        <a:ext cx="839132" cy="201600"/>
      </dsp:txXfrm>
    </dsp:sp>
    <dsp:sp modelId="{8FFFDB75-C362-4ADB-9B1C-AB26C24BD71E}">
      <dsp:nvSpPr>
        <dsp:cNvPr id="0" name=""/>
        <dsp:cNvSpPr/>
      </dsp:nvSpPr>
      <dsp:spPr>
        <a:xfrm>
          <a:off x="1523560" y="342975"/>
          <a:ext cx="839132" cy="1420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shade val="80000"/>
              <a:hueOff val="80320"/>
              <a:satOff val="-3227"/>
              <a:lumOff val="69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9784" rIns="49784" bIns="49784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Some countries divide their territories using </a:t>
          </a:r>
          <a:r>
            <a:rPr lang="en-US" sz="700" b="1" kern="1200"/>
            <a:t>zones</a:t>
          </a:r>
          <a:r>
            <a:rPr lang="en-US" sz="700" kern="1200"/>
            <a:t> of cardinal points, if this identification is necessary in the context of your organization it can be used as level 2: East, West, North, South. etc.</a:t>
          </a:r>
        </a:p>
      </dsp:txBody>
      <dsp:txXfrm>
        <a:off x="1548137" y="367552"/>
        <a:ext cx="789978" cy="1371496"/>
      </dsp:txXfrm>
    </dsp:sp>
    <dsp:sp modelId="{8311C478-C5BE-49B7-8183-C8C369ACAB9C}">
      <dsp:nvSpPr>
        <dsp:cNvPr id="0" name=""/>
        <dsp:cNvSpPr/>
      </dsp:nvSpPr>
      <dsp:spPr>
        <a:xfrm>
          <a:off x="2318032" y="137715"/>
          <a:ext cx="269684" cy="20891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shade val="90000"/>
                <a:hueOff val="107129"/>
                <a:satOff val="-4218"/>
                <a:lumOff val="83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90000"/>
                <a:hueOff val="107129"/>
                <a:satOff val="-4218"/>
                <a:lumOff val="83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90000"/>
                <a:hueOff val="107129"/>
                <a:satOff val="-4218"/>
                <a:lumOff val="83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318032" y="179499"/>
        <a:ext cx="207008" cy="125351"/>
      </dsp:txXfrm>
    </dsp:sp>
    <dsp:sp modelId="{0833A503-73DD-4E6E-B5F1-DE9755875437}">
      <dsp:nvSpPr>
        <dsp:cNvPr id="0" name=""/>
        <dsp:cNvSpPr/>
      </dsp:nvSpPr>
      <dsp:spPr>
        <a:xfrm>
          <a:off x="2699660" y="141374"/>
          <a:ext cx="839132" cy="302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160640"/>
                <a:satOff val="-6455"/>
                <a:lumOff val="138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160640"/>
                <a:satOff val="-6455"/>
                <a:lumOff val="138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160640"/>
                <a:satOff val="-6455"/>
                <a:lumOff val="138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26670" numCol="1" spcCol="1270" anchor="t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kern="1200"/>
            <a:t>Hierarchy Level 3</a:t>
          </a:r>
          <a:endParaRPr lang="en-US" sz="700" kern="1200"/>
        </a:p>
      </dsp:txBody>
      <dsp:txXfrm>
        <a:off x="2699660" y="141374"/>
        <a:ext cx="839132" cy="201600"/>
      </dsp:txXfrm>
    </dsp:sp>
    <dsp:sp modelId="{84FA9C82-24F9-4AEC-8BD9-A387E990C84D}">
      <dsp:nvSpPr>
        <dsp:cNvPr id="0" name=""/>
        <dsp:cNvSpPr/>
      </dsp:nvSpPr>
      <dsp:spPr>
        <a:xfrm>
          <a:off x="2871531" y="342975"/>
          <a:ext cx="839132" cy="1420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shade val="80000"/>
              <a:hueOff val="160640"/>
              <a:satOff val="-6455"/>
              <a:lumOff val="138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9784" rIns="49784" bIns="49784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Usually these country divisions are made up of </a:t>
          </a:r>
          <a:r>
            <a:rPr lang="en-US" sz="700" b="1" kern="1200"/>
            <a:t>provinces or states</a:t>
          </a:r>
          <a:r>
            <a:rPr lang="en-US" sz="700" kern="1200"/>
            <a:t>, in this example we can use this as level 3.</a:t>
          </a:r>
        </a:p>
      </dsp:txBody>
      <dsp:txXfrm>
        <a:off x="2896108" y="367552"/>
        <a:ext cx="789978" cy="1371496"/>
      </dsp:txXfrm>
    </dsp:sp>
    <dsp:sp modelId="{4EDBFAD4-1FB3-40A9-9E1C-05AB06507078}">
      <dsp:nvSpPr>
        <dsp:cNvPr id="0" name=""/>
        <dsp:cNvSpPr/>
      </dsp:nvSpPr>
      <dsp:spPr>
        <a:xfrm>
          <a:off x="3666003" y="137715"/>
          <a:ext cx="269684" cy="20891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shade val="90000"/>
                <a:hueOff val="214258"/>
                <a:satOff val="-8435"/>
                <a:lumOff val="167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90000"/>
                <a:hueOff val="214258"/>
                <a:satOff val="-8435"/>
                <a:lumOff val="167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90000"/>
                <a:hueOff val="214258"/>
                <a:satOff val="-8435"/>
                <a:lumOff val="167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666003" y="179499"/>
        <a:ext cx="207008" cy="125351"/>
      </dsp:txXfrm>
    </dsp:sp>
    <dsp:sp modelId="{907D6909-D557-463E-815C-10F89337DB73}">
      <dsp:nvSpPr>
        <dsp:cNvPr id="0" name=""/>
        <dsp:cNvSpPr/>
      </dsp:nvSpPr>
      <dsp:spPr>
        <a:xfrm>
          <a:off x="4047631" y="141374"/>
          <a:ext cx="839132" cy="302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240960"/>
                <a:satOff val="-9682"/>
                <a:lumOff val="207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240960"/>
                <a:satOff val="-9682"/>
                <a:lumOff val="207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240960"/>
                <a:satOff val="-9682"/>
                <a:lumOff val="207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26670" numCol="1" spcCol="1270" anchor="t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kern="1200"/>
            <a:t>Hierarchy Level X</a:t>
          </a:r>
          <a:endParaRPr lang="en-US" sz="700" kern="1200"/>
        </a:p>
      </dsp:txBody>
      <dsp:txXfrm>
        <a:off x="4047631" y="141374"/>
        <a:ext cx="839132" cy="201600"/>
      </dsp:txXfrm>
    </dsp:sp>
    <dsp:sp modelId="{72EC954F-9C82-409C-ACB4-4AEC86955215}">
      <dsp:nvSpPr>
        <dsp:cNvPr id="0" name=""/>
        <dsp:cNvSpPr/>
      </dsp:nvSpPr>
      <dsp:spPr>
        <a:xfrm>
          <a:off x="4219502" y="342975"/>
          <a:ext cx="839132" cy="1420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shade val="80000"/>
              <a:hueOff val="240960"/>
              <a:satOff val="-9682"/>
              <a:lumOff val="2072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9784" rIns="49784" bIns="49784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Other identifiers can be used for subsequent levels such as: Districts, cities, towns, blocks, streets, etc.</a:t>
          </a:r>
        </a:p>
      </dsp:txBody>
      <dsp:txXfrm>
        <a:off x="4244079" y="367552"/>
        <a:ext cx="789978" cy="1371496"/>
      </dsp:txXfrm>
    </dsp:sp>
    <dsp:sp modelId="{D4A21BA6-FFAF-4015-A206-75DD311DE6B6}">
      <dsp:nvSpPr>
        <dsp:cNvPr id="0" name=""/>
        <dsp:cNvSpPr/>
      </dsp:nvSpPr>
      <dsp:spPr>
        <a:xfrm>
          <a:off x="5013973" y="137715"/>
          <a:ext cx="269684" cy="20891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shade val="90000"/>
                <a:hueOff val="321387"/>
                <a:satOff val="-12653"/>
                <a:lumOff val="251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90000"/>
                <a:hueOff val="321387"/>
                <a:satOff val="-12653"/>
                <a:lumOff val="251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90000"/>
                <a:hueOff val="321387"/>
                <a:satOff val="-12653"/>
                <a:lumOff val="251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013973" y="179499"/>
        <a:ext cx="207008" cy="125351"/>
      </dsp:txXfrm>
    </dsp:sp>
    <dsp:sp modelId="{BD385014-E8C2-4CF7-B04B-D558DA0594E9}">
      <dsp:nvSpPr>
        <dsp:cNvPr id="0" name=""/>
        <dsp:cNvSpPr/>
      </dsp:nvSpPr>
      <dsp:spPr>
        <a:xfrm>
          <a:off x="5395602" y="141374"/>
          <a:ext cx="839132" cy="302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321280"/>
                <a:satOff val="-12909"/>
                <a:lumOff val="27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321280"/>
                <a:satOff val="-12909"/>
                <a:lumOff val="27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321280"/>
                <a:satOff val="-12909"/>
                <a:lumOff val="27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26670" numCol="1" spcCol="1270" anchor="t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kern="1200"/>
            <a:t>Hierarchy Level 10</a:t>
          </a:r>
          <a:endParaRPr lang="en-US" sz="700" kern="1200"/>
        </a:p>
      </dsp:txBody>
      <dsp:txXfrm>
        <a:off x="5395602" y="141374"/>
        <a:ext cx="839132" cy="201600"/>
      </dsp:txXfrm>
    </dsp:sp>
    <dsp:sp modelId="{C39629A5-13B6-4147-AC56-61724468738E}">
      <dsp:nvSpPr>
        <dsp:cNvPr id="0" name=""/>
        <dsp:cNvSpPr/>
      </dsp:nvSpPr>
      <dsp:spPr>
        <a:xfrm>
          <a:off x="5567473" y="342975"/>
          <a:ext cx="839132" cy="1420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shade val="80000"/>
              <a:hueOff val="321280"/>
              <a:satOff val="-12909"/>
              <a:lumOff val="27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9784" rIns="49784" bIns="49784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This is the last h</a:t>
          </a:r>
          <a:r>
            <a:rPr lang="en-US" sz="700" b="0" i="0" kern="1200"/>
            <a:t>ierarchy </a:t>
          </a:r>
          <a:r>
            <a:rPr lang="en-US" sz="700" kern="1200"/>
            <a:t>level supported by the system.</a:t>
          </a:r>
        </a:p>
      </dsp:txBody>
      <dsp:txXfrm>
        <a:off x="5592050" y="367552"/>
        <a:ext cx="789978" cy="1371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srcNode" val="parTx"/>
            <dgm:param type="dstNode" val="parTx"/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A9264-4BE4-42A3-99AD-FD9E36BBF4D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D8643-A189-4A73-A931-E65E8BAE23D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D8643-A189-4A73-A931-E65E8BAE23D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-122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-122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 pitchFamily="3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-122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-122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 pitchFamily="3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286604"/>
            <a:ext cx="9809843" cy="562482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  <p:pic>
        <p:nvPicPr>
          <p:cNvPr id="7" name="Picture 6" descr="HDS Icons-0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61600" y="114300"/>
            <a:ext cx="1761490" cy="8166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158240" y="4325112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8A8-F421-436B-A579-2CE6BD38CB8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9921-CC52-48C5-B67E-66A8BF9607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-122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-122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-12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-122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-122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-122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-122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-122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-122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643AA3A-4B98-46CA-8F90-CF5763ACFA2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257" y="286604"/>
            <a:ext cx="10894423" cy="5624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257" y="1119539"/>
            <a:ext cx="11647714" cy="495468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FB2E43F-8D15-4B05-B7C4-DE9B3A4DBD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643AA3A-4B98-46CA-8F90-CF5763ACFA2D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975845"/>
            <a:ext cx="121920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9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9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9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9.xml"/><Relationship Id="rId4" Type="http://schemas.openxmlformats.org/officeDocument/2006/relationships/image" Target="../media/image9.png"/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0761" y="1736079"/>
            <a:ext cx="8275749" cy="729579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Gordita Medium" pitchFamily="50" charset="0"/>
                <a:cs typeface="Gordita Medium" pitchFamily="50" charset="0"/>
              </a:rPr>
              <a:t>HD</a:t>
            </a:r>
            <a:r>
              <a:rPr lang="pt-PT" altLang="en-GB" sz="2800" b="1" dirty="0">
                <a:latin typeface="Gordita Medium" pitchFamily="50" charset="0"/>
                <a:cs typeface="Gordita Medium" pitchFamily="50" charset="0"/>
              </a:rPr>
              <a:t>S-Explorer</a:t>
            </a:r>
            <a:endParaRPr lang="en-US" sz="2800" b="1" dirty="0">
              <a:latin typeface="Gordita Medium" pitchFamily="50" charset="0"/>
              <a:cs typeface="Gordita Medium" pitchFamily="5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38671" y="5598377"/>
            <a:ext cx="648939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dirty="0"/>
              <a:t>Paulo Filimone (Software Engineer)</a:t>
            </a:r>
            <a:endParaRPr lang="en-US" sz="2400" b="1" dirty="0"/>
          </a:p>
        </p:txBody>
      </p:sp>
      <p:pic>
        <p:nvPicPr>
          <p:cNvPr id="6" name="Picture 5" descr="HDS Icons-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5171" y="576363"/>
            <a:ext cx="1761490" cy="816610"/>
          </a:xfrm>
          <a:prstGeom prst="rect">
            <a:avLst/>
          </a:prstGeom>
        </p:spPr>
      </p:pic>
      <p:pic>
        <p:nvPicPr>
          <p:cNvPr id="7" name="Picture 6" descr="HDS Icons-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937" y="1737126"/>
            <a:ext cx="987824" cy="9878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20761" y="2140175"/>
            <a:ext cx="94404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Health and Demographics Surveillance Data Explorer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940935" y="5966460"/>
            <a:ext cx="7289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x-none" altLang="en-US" sz="2400" dirty="0"/>
              <a:t>Email: paulo.filimone@philimones-group.co.mz</a:t>
            </a:r>
            <a:endParaRPr lang="x-none" altLang="en-US" sz="2400" dirty="0"/>
          </a:p>
        </p:txBody>
      </p:sp>
      <p:sp>
        <p:nvSpPr>
          <p:cNvPr id="8" name="TextBox 2"/>
          <p:cNvSpPr txBox="1"/>
          <p:nvPr/>
        </p:nvSpPr>
        <p:spPr>
          <a:xfrm>
            <a:off x="3635211" y="3732755"/>
            <a:ext cx="776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Flow and Data Management Overview</a:t>
            </a:r>
            <a:endParaRPr lang="en-US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/>
              <a:t>Data Collec</a:t>
            </a:r>
            <a:r>
              <a:rPr lang="en-US" altLang="pt-PT" sz="4000" dirty="0"/>
              <a:t>tion</a:t>
            </a:r>
            <a:endParaRPr lang="pt-PT" altLang="en-GB" sz="4000" dirty="0"/>
          </a:p>
        </p:txBody>
      </p:sp>
      <p:graphicFrame>
        <p:nvGraphicFramePr>
          <p:cNvPr id="13" name="Table 12"/>
          <p:cNvGraphicFramePr/>
          <p:nvPr/>
        </p:nvGraphicFramePr>
        <p:xfrm>
          <a:off x="9186545" y="1062990"/>
          <a:ext cx="2893060" cy="5145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060"/>
              </a:tblGrid>
              <a:tr h="283845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>
                          <a:latin typeface="+mn-ea"/>
                          <a:cs typeface="+mn-ea"/>
                        </a:rPr>
                        <a:t>HDSS Events</a:t>
                      </a:r>
                      <a:endParaRPr lang="pt-PT" altLang="en-US" sz="1200">
                        <a:latin typeface="+mn-ea"/>
                        <a:cs typeface="+mn-ea"/>
                      </a:endParaRPr>
                    </a:p>
                  </a:txBody>
                  <a:tcPr/>
                </a:tc>
              </a:tr>
              <a:tr h="36639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</a:rPr>
                        <a:t>Household Registration</a:t>
                      </a:r>
                      <a:endParaRPr 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23304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</a:rPr>
                        <a:t>Household Visit Registration</a:t>
                      </a:r>
                      <a:endParaRPr 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2946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Member Enumeration Registration</a:t>
                      </a:r>
                      <a:endParaRPr 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</a:tr>
              <a:tr h="28003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Marital Relationship Registration</a:t>
                      </a:r>
                      <a:endParaRPr 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</a:tr>
              <a:tr h="31432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External InMigration Registration</a:t>
                      </a:r>
                      <a:endParaRPr 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</a:tr>
              <a:tr h="23304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Internal InMigration Registration</a:t>
                      </a:r>
                      <a:endParaRPr 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</a:tr>
              <a:tr h="26352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External OutMigration Registration</a:t>
                      </a:r>
                      <a:endParaRPr 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</a:tr>
              <a:tr h="26352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Death Registration</a:t>
                      </a:r>
                      <a:endParaRPr 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</a:tr>
              <a:tr h="31432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Pregnancy Registration</a:t>
                      </a:r>
                      <a:endParaRPr 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</a:tr>
              <a:tr h="28384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Birth Registration (Pregnancy Outcome)</a:t>
                      </a:r>
                      <a:endParaRPr 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</a:tr>
              <a:tr h="3251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pt-PT" alt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Pregnancy Follow-up Visit Registration</a:t>
                      </a:r>
                      <a:endParaRPr lang="pt-PT" alt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</a:tr>
              <a:tr h="2609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Change Head of Household</a:t>
                      </a:r>
                      <a:endParaRPr 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</a:tr>
              <a:tr h="3225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pt-PT" alt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Household Relocation Registration</a:t>
                      </a:r>
                      <a:endParaRPr lang="pt-PT" alt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</a:tr>
              <a:tr h="2819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pt-PT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Incomplete Member Visit  Form</a:t>
                      </a:r>
                      <a:endParaRPr lang="en-US" altLang="pt-PT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</a:tr>
              <a:tr h="3860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Change Proxy Head of Household</a:t>
                      </a:r>
                      <a:endParaRPr 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</a:tr>
              <a:tr h="3860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1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Extension of Demographics Forms</a:t>
                      </a:r>
                      <a:endParaRPr lang="en-US" sz="11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00" name="Text Box 99"/>
          <p:cNvSpPr txBox="1"/>
          <p:nvPr/>
        </p:nvSpPr>
        <p:spPr>
          <a:xfrm>
            <a:off x="150495" y="1062990"/>
            <a:ext cx="8375650" cy="50158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To be able to collect demographics surveillance data this system makes use of 14 Electronic Forms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342900" indent="-342900">
              <a:buFont typeface="+mj-lt"/>
              <a:buAutoNum type="arabicPeriod"/>
            </a:pP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342900" indent="-342900">
              <a:buAutoNum type="arabicPeriod"/>
            </a:pP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These Electronic Forms are designated </a:t>
            </a:r>
            <a:r>
              <a:rPr lang="en-US" sz="1600" b="1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Core Forms</a:t>
            </a: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.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342900" indent="-342900">
              <a:buAutoNum type="arabicPeriod"/>
            </a:pP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342900" indent="-342900">
              <a:buAutoNum type="arabicPeriod"/>
            </a:pP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The Core Forms has a fixed set of questions for each event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342900" indent="-342900">
              <a:buAutoNum type="arabicPeriod"/>
            </a:pP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342900" indent="-342900">
              <a:buAutoNum type="arabicPeriod"/>
            </a:pP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They are not fully customizable by the users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742950" lvl="1" indent="-285750">
              <a:buFont typeface="Arial" panose="020B0604020202020204" pitchFamily="34" charset="-122"/>
              <a:buChar char="•"/>
            </a:pP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Can’t add or remove any questions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742950" lvl="1" indent="-285750">
              <a:buFont typeface="Arial" panose="020B0604020202020204" pitchFamily="34" charset="-122"/>
              <a:buChar char="•"/>
            </a:pP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Only developers can change them and recompile the application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742950" lvl="1" indent="-285750">
              <a:buFont typeface="Arial" panose="020B0604020202020204" pitchFamily="34" charset="-122"/>
              <a:buChar char="•"/>
            </a:pP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The options of some questions are customizable, meaning that we can add more options to it and change the labels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742950" lvl="1" indent="-285750">
              <a:buFont typeface="Arial" panose="020B0604020202020204" pitchFamily="34" charset="-122"/>
              <a:buChar char="•"/>
            </a:pP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342900" indent="-342900">
              <a:buAutoNum type="arabicPeriod"/>
            </a:pP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</a:rPr>
              <a:t>To be able to customize or add more questions to a HDSS Event the system provides the </a:t>
            </a:r>
            <a:r>
              <a:rPr lang="en-US" sz="1600" b="1">
                <a:latin typeface="Calibri" panose="020F0502020204030204" pitchFamily="34" charset="0"/>
                <a:ea typeface="SimSun" panose="02010600030101010101" pitchFamily="2" charset="-122"/>
              </a:rPr>
              <a:t>Core Form Extensions</a:t>
            </a:r>
            <a:endParaRPr lang="en-US" sz="1600" b="1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342900" indent="-342900">
              <a:buAutoNum type="arabicPeriod"/>
            </a:pPr>
            <a:endParaRPr lang="en-US" sz="1600" b="1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342900" indent="-342900">
              <a:buAutoNum type="arabicPeriod"/>
            </a:pP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</a:rPr>
              <a:t>C</a:t>
            </a:r>
            <a:r>
              <a:rPr lang="en-US" sz="1600" b="1">
                <a:latin typeface="Calibri" panose="020F0502020204030204" pitchFamily="34" charset="0"/>
                <a:ea typeface="SimSun" panose="02010600030101010101" pitchFamily="2" charset="-122"/>
              </a:rPr>
              <a:t>ore Form Extensions</a:t>
            </a: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</a:rPr>
              <a:t> are a customizable ODK Forms that are collected during the DSS event data collection right after </a:t>
            </a: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the Core Forms data is collected.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0" indent="0"/>
            <a:endParaRPr lang="en-US" sz="16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/>
              <a:t>Data Collect</a:t>
            </a:r>
            <a:r>
              <a:rPr lang="en-US" altLang="pt-PT" sz="4000" dirty="0"/>
              <a:t>ion Forms</a:t>
            </a:r>
            <a:endParaRPr lang="pt-PT" altLang="en-GB" sz="4000" dirty="0"/>
          </a:p>
        </p:txBody>
      </p:sp>
      <p:graphicFrame>
        <p:nvGraphicFramePr>
          <p:cNvPr id="13" name="Table 12"/>
          <p:cNvGraphicFramePr/>
          <p:nvPr/>
        </p:nvGraphicFramePr>
        <p:xfrm>
          <a:off x="91440" y="993775"/>
          <a:ext cx="11692255" cy="5772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060"/>
                <a:gridCol w="8799195"/>
              </a:tblGrid>
              <a:tr h="283845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>
                          <a:latin typeface="+mn-ea"/>
                          <a:cs typeface="+mn-ea"/>
                        </a:rPr>
                        <a:t>Events</a:t>
                      </a:r>
                      <a:endParaRPr lang="pt-PT" altLang="en-US" sz="1200">
                        <a:latin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400">
                        <a:latin typeface="+mn-ea"/>
                        <a:cs typeface="+mn-ea"/>
                      </a:endParaRPr>
                    </a:p>
                  </a:txBody>
                  <a:tcPr/>
                </a:tc>
              </a:tr>
              <a:tr h="36639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</a:rPr>
                        <a:t>Household Registration</a:t>
                      </a:r>
                      <a:endParaRPr 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Creates a new Household record inside the study area (DSS) on a specified Region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</a:rPr>
                        <a:t>Household Visit Registration</a:t>
                      </a:r>
                      <a:endParaRPr 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Create</a:t>
                      </a:r>
                      <a:r>
                        <a:rPr lang="pt-PT" altLang="en-US" sz="1000">
                          <a:latin typeface="+mn-ea"/>
                          <a:cs typeface="+mn-ea"/>
                        </a:rPr>
                        <a:t>s a</a:t>
                      </a:r>
                      <a:r>
                        <a:rPr lang="en-US" sz="1000">
                          <a:latin typeface="+mn-ea"/>
                          <a:cs typeface="+mn-ea"/>
                        </a:rPr>
                        <a:t> Visit Record in a Household,</a:t>
                      </a:r>
                      <a:r>
                        <a:rPr lang="pt-PT" altLang="en-US" sz="1000">
                          <a:latin typeface="+mn-ea"/>
                          <a:cs typeface="+mn-ea"/>
                        </a:rPr>
                        <a:t> </a:t>
                      </a:r>
                      <a:r>
                        <a:rPr lang="en-US" sz="1000">
                          <a:latin typeface="+mn-ea"/>
                          <a:cs typeface="+mn-ea"/>
                        </a:rPr>
                        <a:t>Allows creation/collection of a Visit even if the interviewee is not registered yet!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3149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Member Enumeration Registration</a:t>
                      </a:r>
                      <a:endParaRPr 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Creates a new Member record in an Household as an Enumeration (ENU)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25336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Marital Relationship Registration</a:t>
                      </a:r>
                      <a:endParaRPr 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Allow the registration and control of marriages, divorces, and widowed status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External InMigration Registration</a:t>
                      </a:r>
                      <a:endParaRPr 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Allows the record of the movement of a Member from outside the the study area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  <a:p>
                      <a:pPr>
                        <a:buNone/>
                      </a:pPr>
                      <a:r>
                        <a:rPr lang="pt-PT" altLang="en-US" sz="1000">
                          <a:latin typeface="+mn-ea"/>
                          <a:cs typeface="+mn-ea"/>
                        </a:rPr>
                        <a:t>Supports new Member Registration and the return of a Member into the study area.</a:t>
                      </a:r>
                      <a:endParaRPr lang="pt-PT" alt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Internal InMigration Registration</a:t>
                      </a:r>
                      <a:endParaRPr 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Allows the record of the movement of a Member from an Household to another inside the study area</a:t>
                      </a:r>
                      <a:r>
                        <a:rPr lang="pt-PT" altLang="en-US" sz="1000">
                          <a:latin typeface="+mn-ea"/>
                          <a:cs typeface="+mn-ea"/>
                        </a:rPr>
                        <a:t>, this a</a:t>
                      </a:r>
                      <a:r>
                        <a:rPr lang="en-US" sz="1000">
                          <a:latin typeface="+mn-ea"/>
                          <a:cs typeface="+mn-ea"/>
                        </a:rPr>
                        <a:t>utomatically creates an Internal Outmigration to register the exit move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30416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External OutMigration Registration</a:t>
                      </a:r>
                      <a:endParaRPr 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Allows the record of the movement of a Member from inside the study area to outside the study area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3860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Death Registration</a:t>
                      </a:r>
                      <a:endParaRPr 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Create a new Death record for a resident Member of the specified Household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Allows to set a head of Household in case the deceased Member was an Head of Household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Pregnancy Registration</a:t>
                      </a:r>
                      <a:endParaRPr 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Allow the record of a new Pregnancy, controls and follow-up the pregnancy until the outcome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3860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Birth Registration (Pregnancy Outcome)</a:t>
                      </a:r>
                      <a:endParaRPr 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Allows the creation of new Members through Birth Registration (support multiple babies registration)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Automatically create Death Records in case of stillbirths, miscarriages and abortions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3860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pt-PT" alt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Pregnancy Follow-up Visit Registration</a:t>
                      </a:r>
                      <a:endParaRPr lang="pt-PT" alt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000">
                          <a:latin typeface="+mn-ea"/>
                          <a:cs typeface="+mn-ea"/>
                        </a:rPr>
                        <a:t>Allows the collection of </a:t>
                      </a:r>
                      <a:r>
                        <a:rPr lang="en-US" sz="1000">
                          <a:latin typeface="+mn-ea"/>
                          <a:cs typeface="+mn-ea"/>
                        </a:rPr>
                        <a:t>Pregnancy Follow-up Visit, this domain have information of a pregnancy surveillance monitoring during a antepartum and postpartum visits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2609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Change Head of Household</a:t>
                      </a:r>
                      <a:endParaRPr 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Performs the change of a Head of Household for another member of the same Household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38417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pt-PT" alt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Household Relocation Registration</a:t>
                      </a:r>
                      <a:endParaRPr lang="pt-PT" alt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000">
                          <a:latin typeface="+mn-ea"/>
                          <a:cs typeface="+mn-ea"/>
                        </a:rPr>
                        <a:t>Allows to move an entire Household Members to another Household using internally Internal Inmigrations</a:t>
                      </a:r>
                      <a:endParaRPr lang="pt-PT" alt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2616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pt-PT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Incomplete Member Visit Form</a:t>
                      </a:r>
                      <a:endParaRPr lang="en-US" altLang="pt-PT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000">
                          <a:latin typeface="+mn-ea"/>
                          <a:cs typeface="+mn-ea"/>
                        </a:rPr>
                        <a:t>Allows to register which Member and the reason for not being possible to perform data collection about him</a:t>
                      </a:r>
                      <a:endParaRPr lang="pt-PT" alt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3860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Change Proxy Head of Household</a:t>
                      </a:r>
                      <a:endParaRPr 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Allows to perform the change of the Proxy(substitute) Head of the Household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  <a:tr h="3860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cs typeface="+mn-ea"/>
                          <a:sym typeface="+mn-ea"/>
                        </a:rPr>
                        <a:t>Extension of Demographics Forms</a:t>
                      </a:r>
                      <a:endParaRPr lang="en-US" sz="10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For all of these events the system allow the collection of extensions forms to enlarge the number of questions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1000">
                          <a:latin typeface="+mn-ea"/>
                          <a:cs typeface="+mn-ea"/>
                        </a:rPr>
                        <a:t>This feature must be enabled and an Extension HDS Form (similar to ODK XLS Form) must be customized</a:t>
                      </a:r>
                      <a:endParaRPr lang="en-US" sz="1000">
                        <a:latin typeface="+mn-ea"/>
                        <a:cs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/>
              <a:t>Data Collec</a:t>
            </a:r>
            <a:r>
              <a:rPr lang="en-US" altLang="pt-PT" sz="4000" dirty="0"/>
              <a:t>tion</a:t>
            </a:r>
            <a:r>
              <a:rPr lang="pt-PT" altLang="en-US" sz="4000" dirty="0"/>
              <a:t> Technologies</a:t>
            </a:r>
            <a:endParaRPr lang="pt-PT" altLang="en-US" sz="4000" dirty="0"/>
          </a:p>
        </p:txBody>
      </p:sp>
      <p:sp>
        <p:nvSpPr>
          <p:cNvPr id="100" name="Text Box 99"/>
          <p:cNvSpPr txBox="1"/>
          <p:nvPr/>
        </p:nvSpPr>
        <p:spPr>
          <a:xfrm>
            <a:off x="260985" y="1083310"/>
            <a:ext cx="1011237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buFont typeface="+mj-lt"/>
              <a:buNone/>
            </a:pP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342900" indent="-342900">
              <a:buAutoNum type="arabicPeriod"/>
            </a:pP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The</a:t>
            </a: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 Core Forms are using a HDS Forms Library software to render the forms and convert them to XML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342900" indent="-342900">
              <a:buAutoNum type="arabicPeriod"/>
            </a:pP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342900" indent="-342900">
              <a:buAutoNum type="arabicPeriod"/>
            </a:pP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The Core Forms</a:t>
            </a: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 Extensions are </a:t>
            </a:r>
            <a:r>
              <a:rPr lang="en-US" altLang="pt-PT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also </a:t>
            </a: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using the </a:t>
            </a:r>
            <a:r>
              <a:rPr lang="en-US" altLang="pt-PT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HDS Forms Library</a:t>
            </a: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 to collect the extra data</a:t>
            </a:r>
            <a:b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</a:b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342900" indent="-342900">
              <a:buAutoNum type="arabicPeriod"/>
            </a:pP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</a:rPr>
              <a:t>The results of both collections are packaged as one single XML File that is uploaded to the server app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</p:txBody>
      </p:sp>
      <p:graphicFrame>
        <p:nvGraphicFramePr>
          <p:cNvPr id="122" name="Diagram 122"/>
          <p:cNvGraphicFramePr/>
          <p:nvPr/>
        </p:nvGraphicFramePr>
        <p:xfrm>
          <a:off x="1143000" y="2886075"/>
          <a:ext cx="9701530" cy="3131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/>
              <a:t>Data Flow Server Components</a:t>
            </a:r>
            <a:endParaRPr lang="pt-PT" altLang="en-GB" sz="4000" dirty="0"/>
          </a:p>
        </p:txBody>
      </p:sp>
      <p:grpSp>
        <p:nvGrpSpPr>
          <p:cNvPr id="456" name="Group 456"/>
          <p:cNvGrpSpPr/>
          <p:nvPr/>
        </p:nvGrpSpPr>
        <p:grpSpPr>
          <a:xfrm>
            <a:off x="5831205" y="1953260"/>
            <a:ext cx="5951220" cy="2790190"/>
            <a:chOff x="1768" y="930324"/>
            <a:chExt cx="9372" cy="4394"/>
          </a:xfrm>
        </p:grpSpPr>
        <p:grpSp>
          <p:nvGrpSpPr>
            <p:cNvPr id="449" name="Group 449"/>
            <p:cNvGrpSpPr/>
            <p:nvPr/>
          </p:nvGrpSpPr>
          <p:grpSpPr>
            <a:xfrm>
              <a:off x="1768" y="930324"/>
              <a:ext cx="9372" cy="4394"/>
              <a:chOff x="1584" y="934916"/>
              <a:chExt cx="9372" cy="4394"/>
            </a:xfrm>
          </p:grpSpPr>
          <p:sp>
            <p:nvSpPr>
              <p:cNvPr id="405" name="Rounded Rectangle 57"/>
              <p:cNvSpPr/>
              <p:nvPr/>
            </p:nvSpPr>
            <p:spPr>
              <a:xfrm>
                <a:off x="1584" y="934916"/>
                <a:ext cx="9372" cy="4394"/>
              </a:xfrm>
              <a:prstGeom prst="roundRect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grpSp>
            <p:nvGrpSpPr>
              <p:cNvPr id="448" name="Group 448"/>
              <p:cNvGrpSpPr/>
              <p:nvPr/>
            </p:nvGrpSpPr>
            <p:grpSpPr>
              <a:xfrm>
                <a:off x="2185" y="935073"/>
                <a:ext cx="8334" cy="3959"/>
                <a:chOff x="1800" y="935029"/>
                <a:chExt cx="8334" cy="3959"/>
              </a:xfrm>
            </p:grpSpPr>
            <p:grpSp>
              <p:nvGrpSpPr>
                <p:cNvPr id="447" name="Group 447"/>
                <p:cNvGrpSpPr/>
                <p:nvPr/>
              </p:nvGrpSpPr>
              <p:grpSpPr>
                <a:xfrm>
                  <a:off x="1800" y="935029"/>
                  <a:ext cx="3506" cy="3959"/>
                  <a:chOff x="1800" y="935029"/>
                  <a:chExt cx="3506" cy="3959"/>
                </a:xfrm>
              </p:grpSpPr>
              <p:grpSp>
                <p:nvGrpSpPr>
                  <p:cNvPr id="437" name="Group 437"/>
                  <p:cNvGrpSpPr/>
                  <p:nvPr/>
                </p:nvGrpSpPr>
                <p:grpSpPr>
                  <a:xfrm>
                    <a:off x="1800" y="935029"/>
                    <a:ext cx="3506" cy="3959"/>
                    <a:chOff x="1800" y="935029"/>
                    <a:chExt cx="3506" cy="3959"/>
                  </a:xfrm>
                </p:grpSpPr>
                <p:grpSp>
                  <p:nvGrpSpPr>
                    <p:cNvPr id="424" name="Group 424"/>
                    <p:cNvGrpSpPr/>
                    <p:nvPr/>
                  </p:nvGrpSpPr>
                  <p:grpSpPr>
                    <a:xfrm>
                      <a:off x="1800" y="935029"/>
                      <a:ext cx="3506" cy="3959"/>
                      <a:chOff x="1800" y="935029"/>
                      <a:chExt cx="3506" cy="3959"/>
                    </a:xfrm>
                  </p:grpSpPr>
                  <p:sp>
                    <p:nvSpPr>
                      <p:cNvPr id="412" name="Rectangle: Rounded Corners 7"/>
                      <p:cNvSpPr/>
                      <p:nvPr/>
                    </p:nvSpPr>
                    <p:spPr>
                      <a:xfrm>
                        <a:off x="1800" y="935507"/>
                        <a:ext cx="3506" cy="3481"/>
                      </a:xfrm>
                      <a:prstGeom prst="roundRect">
                        <a:avLst>
                          <a:gd name="adj" fmla="val 4888"/>
                        </a:avLst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blurRad="203200" dist="38100" dir="2700000" sx="97000" sy="97000" algn="tl" rotWithShape="0">
                          <a:prstClr val="black">
                            <a:alpha val="41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altLang="zh-CN" sz="1050" kern="100">
                            <a:latin typeface="Calibri" panose="020F0502020204030204"/>
                            <a:ea typeface="SimSun" panose="02010600030101010101" pitchFamily="2" charset="-122"/>
                            <a:cs typeface="Times New Roman" panose="02020603050405020304" charset="-122"/>
                            <a:sym typeface="Times New Roman" panose="02020603050405020304" charset="-122"/>
                          </a:rPr>
                          <a:t> </a:t>
                        </a:r>
                        <a:endParaRPr lang="en-US" altLang="zh-CN" sz="1050" kern="100"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endParaRPr>
                      </a:p>
                    </p:txBody>
                  </p:sp>
                  <p:pic>
                    <p:nvPicPr>
                      <p:cNvPr id="406" name="Picture 49"/>
                      <p:cNvPicPr>
                        <a:picLocks noChangeAspect="1"/>
                      </p:cNvPicPr>
                      <p:nvPr/>
                    </p:nvPicPr>
                    <p:blipFill>
                      <a:blip r:embed="rId1"/>
                      <a:stretch>
                        <a:fillRect/>
                      </a:stretch>
                    </p:blipFill>
                    <p:spPr>
                      <a:xfrm>
                        <a:off x="1939" y="935029"/>
                        <a:ext cx="802" cy="916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398" name="Text Box 5"/>
                    <p:cNvSpPr txBox="1"/>
                    <p:nvPr/>
                  </p:nvSpPr>
                  <p:spPr>
                    <a:xfrm>
                      <a:off x="2690" y="935071"/>
                      <a:ext cx="2208" cy="3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pPr marL="0" marR="0" algn="l" ea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1" u="sng" kern="1200">
                          <a:solidFill>
                            <a:srgbClr val="000000"/>
                          </a:solidFill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rPr>
                        <a:t>Server Application</a:t>
                      </a:r>
                      <a:endParaRPr lang="en-US" altLang="zh-CN" sz="900" kern="0">
                        <a:latin typeface="Times New Roman" panose="02020603050405020304" charset="-122"/>
                        <a:ea typeface="SimSun" panose="02010600030101010101" pitchFamily="2" charset="-122"/>
                        <a:cs typeface="Times New Roman" panose="02020603050405020304" charset="-122"/>
                        <a:sym typeface="Times New Roman" panose="02020603050405020304" charset="-122"/>
                      </a:endParaRPr>
                    </a:p>
                  </p:txBody>
                </p:sp>
              </p:grpSp>
              <p:grpSp>
                <p:nvGrpSpPr>
                  <p:cNvPr id="446" name="Group 446"/>
                  <p:cNvGrpSpPr/>
                  <p:nvPr/>
                </p:nvGrpSpPr>
                <p:grpSpPr>
                  <a:xfrm>
                    <a:off x="1835" y="935560"/>
                    <a:ext cx="3181" cy="3179"/>
                    <a:chOff x="1835" y="935560"/>
                    <a:chExt cx="3181" cy="3179"/>
                  </a:xfrm>
                </p:grpSpPr>
                <p:grpSp>
                  <p:nvGrpSpPr>
                    <p:cNvPr id="430" name="Group 430"/>
                    <p:cNvGrpSpPr/>
                    <p:nvPr/>
                  </p:nvGrpSpPr>
                  <p:grpSpPr>
                    <a:xfrm>
                      <a:off x="1835" y="936345"/>
                      <a:ext cx="2420" cy="2394"/>
                      <a:chOff x="1835" y="935828"/>
                      <a:chExt cx="2420" cy="2394"/>
                    </a:xfrm>
                  </p:grpSpPr>
                  <p:grpSp>
                    <p:nvGrpSpPr>
                      <p:cNvPr id="426" name="Group 426"/>
                      <p:cNvGrpSpPr/>
                      <p:nvPr/>
                    </p:nvGrpSpPr>
                    <p:grpSpPr>
                      <a:xfrm>
                        <a:off x="2867" y="935828"/>
                        <a:ext cx="1388" cy="2394"/>
                        <a:chOff x="2768" y="935828"/>
                        <a:chExt cx="1388" cy="2394"/>
                      </a:xfrm>
                    </p:grpSpPr>
                    <p:grpSp>
                      <p:nvGrpSpPr>
                        <p:cNvPr id="417" name="Group 417"/>
                        <p:cNvGrpSpPr/>
                        <p:nvPr/>
                      </p:nvGrpSpPr>
                      <p:grpSpPr>
                        <a:xfrm>
                          <a:off x="2768" y="937538"/>
                          <a:ext cx="1378" cy="684"/>
                          <a:chOff x="2573" y="936915"/>
                          <a:chExt cx="1378" cy="684"/>
                        </a:xfrm>
                      </p:grpSpPr>
                      <p:sp>
                        <p:nvSpPr>
                          <p:cNvPr id="413" name="Text Box 413"/>
                          <p:cNvSpPr txBox="1"/>
                          <p:nvPr/>
                        </p:nvSpPr>
                        <p:spPr>
                          <a:xfrm>
                            <a:off x="2573" y="936915"/>
                            <a:ext cx="990" cy="684"/>
                          </a:xfrm>
                          <a:prstGeom prst="rect">
                            <a:avLst/>
                          </a:prstGeom>
                        </p:spPr>
                        <p:style>
                          <a:lnRef idx="1">
                            <a:schemeClr val="dk1"/>
                          </a:lnRef>
                          <a:fillRef idx="2">
                            <a:schemeClr val="dk1"/>
                          </a:fillRef>
                          <a:effectRef idx="1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    <a:noAutofit/>
                          </a:bodyPr>
                          <a:lstStyle/>
                          <a:p>
                            <a:r>
                              <a:rPr lang="en-US" altLang="zh-CN" sz="750" b="1" kern="100">
                                <a:effectLst>
                                  <a:outerShdw sx="0" sy="0">
                                    <a:srgbClr val="000000"/>
                                  </a:outerShdw>
                                </a:effectLst>
                                <a:latin typeface="Calibri" panose="020F0502020204030204"/>
                                <a:ea typeface="SimSun" panose="02010600030101010101" pitchFamily="2" charset="-122"/>
                                <a:cs typeface="Times New Roman" panose="02020603050405020304" charset="-122"/>
                                <a:sym typeface="Times New Roman" panose="02020603050405020304" charset="-122"/>
                              </a:rPr>
                              <a:t>Staging </a:t>
                            </a:r>
                            <a:endParaRPr lang="en-US" altLang="zh-CN" sz="750" b="1" kern="100">
                              <a:effectLst>
                                <a:outerShdw sx="0" sy="0">
                                  <a:srgbClr val="000000"/>
                                </a:outerShdw>
                              </a:effectLst>
                              <a:latin typeface="Calibri" panose="020F0502020204030204"/>
                              <a:ea typeface="SimSun" panose="02010600030101010101" pitchFamily="2" charset="-122"/>
                              <a:cs typeface="Times New Roman" panose="02020603050405020304" charset="-122"/>
                              <a:sym typeface="Times New Roman" panose="02020603050405020304" charset="-122"/>
                            </a:endParaRPr>
                          </a:p>
                          <a:p>
                            <a:r>
                              <a:rPr lang="en-US" altLang="zh-CN" sz="750" b="1" kern="100">
                                <a:effectLst>
                                  <a:outerShdw sx="0" sy="0">
                                    <a:srgbClr val="000000"/>
                                  </a:outerShdw>
                                </a:effectLst>
                                <a:latin typeface="Calibri" panose="020F0502020204030204"/>
                                <a:ea typeface="SimSun" panose="02010600030101010101" pitchFamily="2" charset="-122"/>
                                <a:cs typeface="Times New Roman" panose="02020603050405020304" charset="-122"/>
                                <a:sym typeface="Times New Roman" panose="02020603050405020304" charset="-122"/>
                              </a:rPr>
                              <a:t>Database </a:t>
                            </a:r>
                            <a:endParaRPr lang="en-US" altLang="zh-CN" sz="750" b="1" kern="100">
                              <a:effectLst>
                                <a:outerShdw sx="0" sy="0">
                                  <a:srgbClr val="000000"/>
                                </a:outerShdw>
                              </a:effectLst>
                              <a:latin typeface="Calibri" panose="020F0502020204030204"/>
                              <a:ea typeface="SimSun" panose="02010600030101010101" pitchFamily="2" charset="-122"/>
                              <a:cs typeface="Times New Roman" panose="02020603050405020304" charset="-122"/>
                              <a:sym typeface="Times New Roman" panose="02020603050405020304" charset="-122"/>
                            </a:endParaRPr>
                          </a:p>
                          <a:p>
                            <a:r>
                              <a:rPr lang="en-US" altLang="zh-CN" sz="750" b="1" kern="100">
                                <a:effectLst>
                                  <a:outerShdw sx="0" sy="0">
                                    <a:srgbClr val="000000"/>
                                  </a:outerShdw>
                                </a:effectLst>
                                <a:latin typeface="Calibri" panose="020F0502020204030204"/>
                                <a:ea typeface="SimSun" panose="02010600030101010101" pitchFamily="2" charset="-122"/>
                                <a:cs typeface="Times New Roman" panose="02020603050405020304" charset="-122"/>
                                <a:sym typeface="Times New Roman" panose="02020603050405020304" charset="-122"/>
                              </a:rPr>
                              <a:t>Tables</a:t>
                            </a:r>
                            <a:endParaRPr lang="en-US" altLang="zh-CN" sz="750" b="1" kern="100">
                              <a:effectLst>
                                <a:outerShdw sx="0" sy="0">
                                  <a:srgbClr val="000000"/>
                                </a:outerShdw>
                              </a:effectLst>
                              <a:latin typeface="Calibri" panose="020F0502020204030204"/>
                              <a:ea typeface="SimSun" panose="02010600030101010101" pitchFamily="2" charset="-122"/>
                              <a:cs typeface="Times New Roman" panose="02020603050405020304" charset="-122"/>
                              <a:sym typeface="Times New Roman" panose="02020603050405020304" charset="-122"/>
                            </a:endParaRPr>
                          </a:p>
                        </p:txBody>
                      </p:sp>
                      <p:pic>
                        <p:nvPicPr>
                          <p:cNvPr id="416" name="Picture 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3440" y="937006"/>
                            <a:ext cx="511" cy="5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grpSp>
                    <p:grpSp>
                      <p:nvGrpSpPr>
                        <p:cNvPr id="421" name="Group 421"/>
                        <p:cNvGrpSpPr/>
                        <p:nvPr/>
                      </p:nvGrpSpPr>
                      <p:grpSpPr>
                        <a:xfrm>
                          <a:off x="2778" y="935828"/>
                          <a:ext cx="1378" cy="684"/>
                          <a:chOff x="2573" y="936915"/>
                          <a:chExt cx="1378" cy="684"/>
                        </a:xfrm>
                      </p:grpSpPr>
                      <p:sp>
                        <p:nvSpPr>
                          <p:cNvPr id="422" name="Text Box 413"/>
                          <p:cNvSpPr txBox="1"/>
                          <p:nvPr/>
                        </p:nvSpPr>
                        <p:spPr>
                          <a:xfrm>
                            <a:off x="2573" y="936915"/>
                            <a:ext cx="990" cy="684"/>
                          </a:xfrm>
                          <a:prstGeom prst="rect">
                            <a:avLst/>
                          </a:prstGeom>
                        </p:spPr>
                        <p:style>
                          <a:lnRef idx="1">
                            <a:schemeClr val="accent1"/>
                          </a:lnRef>
                          <a:fillRef idx="2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    <a:noAutofit/>
                          </a:bodyPr>
                          <a:lstStyle/>
                          <a:p>
                            <a:r>
                              <a:rPr lang="en-US" altLang="zh-CN" sz="750" b="1" kern="100">
                                <a:effectLst>
                                  <a:outerShdw sx="0" sy="0">
                                    <a:srgbClr val="000000"/>
                                  </a:outerShdw>
                                </a:effectLst>
                                <a:latin typeface="Calibri" panose="020F0502020204030204"/>
                                <a:ea typeface="SimSun" panose="02010600030101010101" pitchFamily="2" charset="-122"/>
                                <a:cs typeface="Times New Roman" panose="02020603050405020304" charset="-122"/>
                                <a:sym typeface="Times New Roman" panose="02020603050405020304" charset="-122"/>
                              </a:rPr>
                              <a:t>Final </a:t>
                            </a:r>
                            <a:endParaRPr lang="en-US" altLang="zh-CN" sz="750" b="1" kern="100">
                              <a:effectLst>
                                <a:outerShdw sx="0" sy="0">
                                  <a:srgbClr val="000000"/>
                                </a:outerShdw>
                              </a:effectLst>
                              <a:latin typeface="Calibri" panose="020F0502020204030204"/>
                              <a:ea typeface="SimSun" panose="02010600030101010101" pitchFamily="2" charset="-122"/>
                              <a:cs typeface="Times New Roman" panose="02020603050405020304" charset="-122"/>
                              <a:sym typeface="Times New Roman" panose="02020603050405020304" charset="-122"/>
                            </a:endParaRPr>
                          </a:p>
                          <a:p>
                            <a:r>
                              <a:rPr lang="en-US" altLang="zh-CN" sz="750" b="1" kern="100">
                                <a:effectLst>
                                  <a:outerShdw sx="0" sy="0">
                                    <a:srgbClr val="000000"/>
                                  </a:outerShdw>
                                </a:effectLst>
                                <a:latin typeface="Calibri" panose="020F0502020204030204"/>
                                <a:ea typeface="SimSun" panose="02010600030101010101" pitchFamily="2" charset="-122"/>
                                <a:cs typeface="Times New Roman" panose="02020603050405020304" charset="-122"/>
                                <a:sym typeface="Times New Roman" panose="02020603050405020304" charset="-122"/>
                              </a:rPr>
                              <a:t>Database </a:t>
                            </a:r>
                            <a:endParaRPr lang="en-US" altLang="zh-CN" sz="750" b="1" kern="100">
                              <a:effectLst>
                                <a:outerShdw sx="0" sy="0">
                                  <a:srgbClr val="000000"/>
                                </a:outerShdw>
                              </a:effectLst>
                              <a:latin typeface="Calibri" panose="020F0502020204030204"/>
                              <a:ea typeface="SimSun" panose="02010600030101010101" pitchFamily="2" charset="-122"/>
                              <a:cs typeface="Times New Roman" panose="02020603050405020304" charset="-122"/>
                              <a:sym typeface="Times New Roman" panose="02020603050405020304" charset="-122"/>
                            </a:endParaRPr>
                          </a:p>
                          <a:p>
                            <a:r>
                              <a:rPr lang="en-US" altLang="zh-CN" sz="750" b="1" kern="100">
                                <a:effectLst>
                                  <a:outerShdw sx="0" sy="0">
                                    <a:srgbClr val="000000"/>
                                  </a:outerShdw>
                                </a:effectLst>
                                <a:latin typeface="Calibri" panose="020F0502020204030204"/>
                                <a:ea typeface="SimSun" panose="02010600030101010101" pitchFamily="2" charset="-122"/>
                                <a:cs typeface="Times New Roman" panose="02020603050405020304" charset="-122"/>
                                <a:sym typeface="Times New Roman" panose="02020603050405020304" charset="-122"/>
                              </a:rPr>
                              <a:t>Tables</a:t>
                            </a:r>
                            <a:endParaRPr lang="en-US" altLang="zh-CN" sz="750" b="1" kern="100">
                              <a:effectLst>
                                <a:outerShdw sx="0" sy="0">
                                  <a:srgbClr val="000000"/>
                                </a:outerShdw>
                              </a:effectLst>
                              <a:latin typeface="Calibri" panose="020F0502020204030204"/>
                              <a:ea typeface="SimSun" panose="02010600030101010101" pitchFamily="2" charset="-122"/>
                              <a:cs typeface="Times New Roman" panose="02020603050405020304" charset="-122"/>
                              <a:sym typeface="Times New Roman" panose="02020603050405020304" charset="-122"/>
                            </a:endParaRPr>
                          </a:p>
                        </p:txBody>
                      </p:sp>
                      <p:pic>
                        <p:nvPicPr>
                          <p:cNvPr id="423" name="Picture 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3440" y="937006"/>
                            <a:ext cx="511" cy="5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grpSp>
                    <p:sp>
                      <p:nvSpPr>
                        <p:cNvPr id="425" name="Left Arrow 54"/>
                        <p:cNvSpPr/>
                        <p:nvPr/>
                      </p:nvSpPr>
                      <p:spPr>
                        <a:xfrm rot="5400000">
                          <a:off x="3280" y="936990"/>
                          <a:ext cx="1237" cy="235"/>
                        </a:xfrm>
                        <a:prstGeom prst="leftArrow">
                          <a:avLst>
                            <a:gd name="adj1" fmla="val 50000"/>
                            <a:gd name="adj2" fmla="val 90277"/>
                          </a:avLst>
                        </a:prstGeom>
                      </p:spPr>
                      <p:style>
                        <a:lnRef idx="2">
                          <a:schemeClr val="accent4">
                            <a:shade val="50000"/>
                          </a:schemeClr>
                        </a:lnRef>
                        <a:fillRef idx="1">
                          <a:schemeClr val="accent4"/>
                        </a:fillRef>
                        <a:effectRef idx="0">
                          <a:schemeClr val="accent4"/>
                        </a:effectRef>
                        <a:fontRef idx="minor">
                          <a:schemeClr val="lt1"/>
                        </a:fontRef>
                      </p:style>
                    </p:sp>
                  </p:grpSp>
                  <p:sp>
                    <p:nvSpPr>
                      <p:cNvPr id="427" name="Rounded Rectangle 427"/>
                      <p:cNvSpPr/>
                      <p:nvPr/>
                    </p:nvSpPr>
                    <p:spPr>
                      <a:xfrm>
                        <a:off x="1835" y="936903"/>
                        <a:ext cx="1802" cy="358"/>
                      </a:xfrm>
                      <a:prstGeom prst="roundRect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<a:noAutofit/>
                      </a:bodyPr>
                      <a:lstStyle/>
                      <a:p>
                        <a:pPr algn="ctr"/>
                        <a:r>
                          <a:rPr lang="en-US" altLang="zh-CN" sz="650" b="1" kern="100">
                            <a:latin typeface="Calibri" panose="020F0502020204030204"/>
                            <a:ea typeface="SimSun" panose="02010600030101010101" pitchFamily="2" charset="-122"/>
                            <a:cs typeface="Times New Roman" panose="02020603050405020304" charset="-122"/>
                            <a:sym typeface="Times New Roman" panose="02020603050405020304" charset="-122"/>
                          </a:rPr>
                          <a:t>Data Validation &amp; Transfer</a:t>
                        </a:r>
                        <a:endParaRPr lang="en-US" altLang="zh-CN" sz="500" b="1" kern="100"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endParaRPr>
                      </a:p>
                    </p:txBody>
                  </p:sp>
                  <p:sp>
                    <p:nvSpPr>
                      <p:cNvPr id="429" name="Left Arrow 54"/>
                      <p:cNvSpPr/>
                      <p:nvPr/>
                    </p:nvSpPr>
                    <p:spPr>
                      <a:xfrm>
                        <a:off x="3636" y="937032"/>
                        <a:ext cx="279" cy="120"/>
                      </a:xfrm>
                      <a:prstGeom prst="leftArrow">
                        <a:avLst/>
                      </a:prstGeom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</p:sp>
                </p:grpSp>
                <p:grpSp>
                  <p:nvGrpSpPr>
                    <p:cNvPr id="435" name="Group 435"/>
                    <p:cNvGrpSpPr/>
                    <p:nvPr/>
                  </p:nvGrpSpPr>
                  <p:grpSpPr>
                    <a:xfrm>
                      <a:off x="3958" y="935560"/>
                      <a:ext cx="1059" cy="828"/>
                      <a:chOff x="3958" y="935560"/>
                      <a:chExt cx="1059" cy="828"/>
                    </a:xfrm>
                  </p:grpSpPr>
                  <p:sp>
                    <p:nvSpPr>
                      <p:cNvPr id="431" name="Bent Arrow 431"/>
                      <p:cNvSpPr/>
                      <p:nvPr/>
                    </p:nvSpPr>
                    <p:spPr>
                      <a:xfrm>
                        <a:off x="3958" y="935774"/>
                        <a:ext cx="322" cy="614"/>
                      </a:xfrm>
                      <a:prstGeom prst="bentArrow">
                        <a:avLst>
                          <a:gd name="adj1" fmla="val 33457"/>
                          <a:gd name="adj2" fmla="val 25000"/>
                          <a:gd name="adj3" fmla="val 25000"/>
                          <a:gd name="adj4" fmla="val 43750"/>
                        </a:avLst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433" name="Oval 433"/>
                      <p:cNvSpPr/>
                      <p:nvPr/>
                    </p:nvSpPr>
                    <p:spPr>
                      <a:xfrm>
                        <a:off x="4337" y="935560"/>
                        <a:ext cx="680" cy="644"/>
                      </a:xfrm>
                      <a:prstGeom prst="ellipse">
                        <a:avLst/>
                      </a:prstGeom>
                    </p:spPr>
                    <p:style>
                      <a:lnRef idx="2">
                        <a:schemeClr val="accent3"/>
                      </a:lnRef>
                      <a:fillRef idx="1">
                        <a:schemeClr val="lt1"/>
                      </a:fillRef>
                      <a:effectRef idx="0">
                        <a:schemeClr val="accent3"/>
                      </a:effectRef>
                      <a:fontRef idx="minor">
                        <a:schemeClr val="dk1"/>
                      </a:fontRef>
                    </p:style>
                  </p:sp>
                  <p:pic>
                    <p:nvPicPr>
                      <p:cNvPr id="432" name="Picture 3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02" y="935671"/>
                        <a:ext cx="396" cy="4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grpSp>
              </p:grpSp>
            </p:grpSp>
            <p:grpSp>
              <p:nvGrpSpPr>
                <p:cNvPr id="445" name="Group 445"/>
                <p:cNvGrpSpPr/>
                <p:nvPr/>
              </p:nvGrpSpPr>
              <p:grpSpPr>
                <a:xfrm>
                  <a:off x="4386" y="935514"/>
                  <a:ext cx="5748" cy="3333"/>
                  <a:chOff x="4386" y="935514"/>
                  <a:chExt cx="5748" cy="3333"/>
                </a:xfrm>
              </p:grpSpPr>
              <p:grpSp>
                <p:nvGrpSpPr>
                  <p:cNvPr id="443" name="Group 443"/>
                  <p:cNvGrpSpPr/>
                  <p:nvPr/>
                </p:nvGrpSpPr>
                <p:grpSpPr>
                  <a:xfrm>
                    <a:off x="4386" y="935514"/>
                    <a:ext cx="4549" cy="3333"/>
                    <a:chOff x="4386" y="935514"/>
                    <a:chExt cx="4549" cy="3333"/>
                  </a:xfrm>
                </p:grpSpPr>
                <p:sp>
                  <p:nvSpPr>
                    <p:cNvPr id="410" name="Text Box 55"/>
                    <p:cNvSpPr txBox="1"/>
                    <p:nvPr/>
                  </p:nvSpPr>
                  <p:spPr>
                    <a:xfrm>
                      <a:off x="6423" y="935514"/>
                      <a:ext cx="1866" cy="33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noAutofit/>
                    </a:bodyPr>
                    <a:lstStyle/>
                    <a:p>
                      <a:pPr marL="0" marR="0" algn="l" ea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rPr>
                        <a:t>Download Datasets</a:t>
                      </a:r>
                      <a:endParaRPr lang="en-US" altLang="zh-CN" sz="1000" kern="0">
                        <a:latin typeface="Times New Roman" panose="02020603050405020304" charset="-122"/>
                        <a:ea typeface="SimSun" panose="02010600030101010101" pitchFamily="2" charset="-122"/>
                        <a:cs typeface="Times New Roman" panose="02020603050405020304" charset="-122"/>
                        <a:sym typeface="Times New Roman" panose="02020603050405020304" charset="-122"/>
                      </a:endParaRPr>
                    </a:p>
                  </p:txBody>
                </p:sp>
                <p:sp>
                  <p:nvSpPr>
                    <p:cNvPr id="411" name="Text Box 56"/>
                    <p:cNvSpPr txBox="1"/>
                    <p:nvPr/>
                  </p:nvSpPr>
                  <p:spPr>
                    <a:xfrm>
                      <a:off x="6530" y="938397"/>
                      <a:ext cx="1480" cy="45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noAutofit/>
                    </a:bodyPr>
                    <a:lstStyle/>
                    <a:p>
                      <a:pPr marL="0" marR="0" algn="ctr" ea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200">
                          <a:solidFill>
                            <a:srgbClr val="000000"/>
                          </a:solidFill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rPr>
                        <a:t>Upload Forms</a:t>
                      </a:r>
                      <a:endParaRPr lang="en-US" altLang="zh-CN" sz="1050" kern="0">
                        <a:latin typeface="Times New Roman" panose="02020603050405020304" charset="-122"/>
                        <a:ea typeface="SimSun" panose="02010600030101010101" pitchFamily="2" charset="-122"/>
                        <a:cs typeface="Times New Roman" panose="02020603050405020304" charset="-122"/>
                        <a:sym typeface="Times New Roman" panose="02020603050405020304" charset="-122"/>
                      </a:endParaRPr>
                    </a:p>
                  </p:txBody>
                </p:sp>
                <p:sp>
                  <p:nvSpPr>
                    <p:cNvPr id="438" name="Bent Arrow 438"/>
                    <p:cNvSpPr/>
                    <p:nvPr/>
                  </p:nvSpPr>
                  <p:spPr>
                    <a:xfrm rot="5400000">
                      <a:off x="6817" y="934078"/>
                      <a:ext cx="380" cy="3856"/>
                    </a:xfrm>
                    <a:prstGeom prst="bentArrow">
                      <a:avLst>
                        <a:gd name="adj1" fmla="val 33457"/>
                        <a:gd name="adj2" fmla="val 35592"/>
                        <a:gd name="adj3" fmla="val 25000"/>
                        <a:gd name="adj4" fmla="val 4375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440" name="Bent Arrow 440"/>
                    <p:cNvSpPr/>
                    <p:nvPr/>
                  </p:nvSpPr>
                  <p:spPr>
                    <a:xfrm rot="10800000">
                      <a:off x="4386" y="938188"/>
                      <a:ext cx="4488" cy="374"/>
                    </a:xfrm>
                    <a:prstGeom prst="bentArrow">
                      <a:avLst>
                        <a:gd name="adj1" fmla="val 33457"/>
                        <a:gd name="adj2" fmla="val 35592"/>
                        <a:gd name="adj3" fmla="val 25000"/>
                        <a:gd name="adj4" fmla="val 4375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grpSp>
                <p:nvGrpSpPr>
                  <p:cNvPr id="442" name="Group 442"/>
                  <p:cNvGrpSpPr/>
                  <p:nvPr/>
                </p:nvGrpSpPr>
                <p:grpSpPr>
                  <a:xfrm>
                    <a:off x="7889" y="936353"/>
                    <a:ext cx="2245" cy="1816"/>
                    <a:chOff x="7889" y="936353"/>
                    <a:chExt cx="2245" cy="1816"/>
                  </a:xfrm>
                </p:grpSpPr>
                <p:pic>
                  <p:nvPicPr>
                    <p:cNvPr id="407" name="Picture 50"/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8170" y="936353"/>
                      <a:ext cx="1099" cy="141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41" name="Text Box 5"/>
                    <p:cNvSpPr txBox="1"/>
                    <p:nvPr/>
                  </p:nvSpPr>
                  <p:spPr>
                    <a:xfrm>
                      <a:off x="7889" y="937770"/>
                      <a:ext cx="2245" cy="3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pPr marL="0" marR="0" algn="l" ea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1" u="sng" kern="1200">
                          <a:solidFill>
                            <a:srgbClr val="000000"/>
                          </a:solidFill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rPr>
                        <a:t>Mobile</a:t>
                      </a:r>
                      <a:r>
                        <a:rPr lang="en-US" altLang="zh-CN" sz="1000" b="1" u="sng" kern="1200">
                          <a:solidFill>
                            <a:srgbClr val="000000"/>
                          </a:solidFill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rPr>
                        <a:t> Application</a:t>
                      </a:r>
                      <a:endParaRPr lang="en-US" altLang="zh-CN" sz="900" kern="0">
                        <a:latin typeface="Times New Roman" panose="02020603050405020304" charset="-122"/>
                        <a:ea typeface="SimSun" panose="02010600030101010101" pitchFamily="2" charset="-122"/>
                        <a:cs typeface="Times New Roman" panose="02020603050405020304" charset="-122"/>
                        <a:sym typeface="Times New Roman" panose="02020603050405020304" charset="-122"/>
                      </a:endParaRPr>
                    </a:p>
                  </p:txBody>
                </p:sp>
              </p:grpSp>
            </p:grpSp>
          </p:grpSp>
        </p:grpSp>
        <p:sp>
          <p:nvSpPr>
            <p:cNvPr id="450" name="Text Box 450"/>
            <p:cNvSpPr txBox="1"/>
            <p:nvPr/>
          </p:nvSpPr>
          <p:spPr>
            <a:xfrm>
              <a:off x="4061" y="931266"/>
              <a:ext cx="370" cy="357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altLang="zh-CN" sz="1050" b="1" kern="100"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1</a:t>
              </a:r>
              <a:endParaRPr lang="en-US" altLang="zh-CN" sz="1050" b="1" kern="100"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sp>
          <p:nvSpPr>
            <p:cNvPr id="455" name="Text Box 455"/>
            <p:cNvSpPr txBox="1"/>
            <p:nvPr/>
          </p:nvSpPr>
          <p:spPr>
            <a:xfrm>
              <a:off x="4665" y="932927"/>
              <a:ext cx="370" cy="357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pt-PT" altLang="en-US" sz="1050" b="1" kern="100"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2</a:t>
              </a:r>
              <a:endParaRPr lang="en-US" altLang="zh-CN" sz="1050" b="1" kern="100"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60985" y="2402205"/>
            <a:ext cx="5309870" cy="2026920"/>
            <a:chOff x="411" y="2054"/>
            <a:chExt cx="8362" cy="3192"/>
          </a:xfrm>
        </p:grpSpPr>
        <p:sp>
          <p:nvSpPr>
            <p:cNvPr id="15" name="Rectangle: Rounded Corners 7"/>
            <p:cNvSpPr/>
            <p:nvPr/>
          </p:nvSpPr>
          <p:spPr>
            <a:xfrm>
              <a:off x="411" y="2054"/>
              <a:ext cx="8362" cy="3192"/>
            </a:xfrm>
            <a:prstGeom prst="roundRect">
              <a:avLst>
                <a:gd name="adj" fmla="val 488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/>
            </a:p>
          </p:txBody>
        </p:sp>
        <p:sp>
          <p:nvSpPr>
            <p:cNvPr id="6" name="Text Box 5"/>
            <p:cNvSpPr txBox="1"/>
            <p:nvPr/>
          </p:nvSpPr>
          <p:spPr>
            <a:xfrm>
              <a:off x="541" y="2054"/>
              <a:ext cx="26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pt-PT" altLang="en-US" sz="1400" b="1" u="sng"/>
                <a:t>Server Application</a:t>
              </a:r>
              <a:endParaRPr lang="pt-PT" altLang="en-US" sz="1400" b="1" u="sng"/>
            </a:p>
          </p:txBody>
        </p:sp>
        <p:sp>
          <p:nvSpPr>
            <p:cNvPr id="9" name="Rectangle: Rounded Corners 7"/>
            <p:cNvSpPr/>
            <p:nvPr/>
          </p:nvSpPr>
          <p:spPr>
            <a:xfrm>
              <a:off x="1550" y="2836"/>
              <a:ext cx="5674" cy="765"/>
            </a:xfrm>
            <a:prstGeom prst="roundRect">
              <a:avLst>
                <a:gd name="adj" fmla="val 4888"/>
              </a:avLst>
            </a:prstGeom>
            <a:solidFill>
              <a:schemeClr val="bg1"/>
            </a:solidFill>
            <a:ln>
              <a:noFill/>
            </a:ln>
            <a:effectLst>
              <a:outerShdw blurRad="203200" dist="38100" dir="2700000" sx="97000" sy="97000" algn="tl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pt-PT" altLang="en-US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Mobile Database Export Manager</a:t>
              </a:r>
              <a:endPara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" name="Rectangle: Rounded Corners 7"/>
            <p:cNvSpPr/>
            <p:nvPr/>
          </p:nvSpPr>
          <p:spPr>
            <a:xfrm>
              <a:off x="1551" y="3854"/>
              <a:ext cx="5674" cy="712"/>
            </a:xfrm>
            <a:prstGeom prst="roundRect">
              <a:avLst>
                <a:gd name="adj" fmla="val 4888"/>
              </a:avLst>
            </a:prstGeom>
            <a:solidFill>
              <a:schemeClr val="bg1"/>
            </a:solidFill>
            <a:ln>
              <a:noFill/>
            </a:ln>
            <a:effectLst>
              <a:outerShdw blurRad="203200" dist="38100" dir="2700000" sx="97000" sy="97000" algn="tl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pt-PT" altLang="en-US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Data Validation and Synchronization Manager</a:t>
              </a:r>
              <a:endPara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" name="Text Box 450"/>
            <p:cNvSpPr txBox="1"/>
            <p:nvPr/>
          </p:nvSpPr>
          <p:spPr>
            <a:xfrm>
              <a:off x="1046" y="3026"/>
              <a:ext cx="370" cy="405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/>
              <a:r>
                <a:rPr lang="en-US" altLang="zh-CN" sz="1200" b="1" kern="100"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1</a:t>
              </a:r>
              <a:endParaRPr lang="en-US" altLang="zh-CN" sz="1200" b="1" kern="100"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sp>
          <p:nvSpPr>
            <p:cNvPr id="8" name="Text Box 450"/>
            <p:cNvSpPr txBox="1"/>
            <p:nvPr/>
          </p:nvSpPr>
          <p:spPr>
            <a:xfrm>
              <a:off x="1046" y="4001"/>
              <a:ext cx="370" cy="405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/>
              <a:r>
                <a:rPr lang="pt-PT" altLang="en-US" sz="1200" b="1" kern="100"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2</a:t>
              </a:r>
              <a:endParaRPr lang="pt-PT" altLang="en-US" sz="1200" b="1" kern="100"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/>
              <a:t>Data Flow Process</a:t>
            </a:r>
            <a:endParaRPr lang="pt-PT" altLang="en-GB" sz="4000" dirty="0"/>
          </a:p>
        </p:txBody>
      </p:sp>
      <p:grpSp>
        <p:nvGrpSpPr>
          <p:cNvPr id="456" name="Group 456"/>
          <p:cNvGrpSpPr/>
          <p:nvPr/>
        </p:nvGrpSpPr>
        <p:grpSpPr>
          <a:xfrm>
            <a:off x="5831205" y="1185545"/>
            <a:ext cx="5951220" cy="2790190"/>
            <a:chOff x="1768" y="930324"/>
            <a:chExt cx="9372" cy="4394"/>
          </a:xfrm>
        </p:grpSpPr>
        <p:grpSp>
          <p:nvGrpSpPr>
            <p:cNvPr id="449" name="Group 449"/>
            <p:cNvGrpSpPr/>
            <p:nvPr/>
          </p:nvGrpSpPr>
          <p:grpSpPr>
            <a:xfrm>
              <a:off x="1768" y="930324"/>
              <a:ext cx="9372" cy="4394"/>
              <a:chOff x="1584" y="934916"/>
              <a:chExt cx="9372" cy="4394"/>
            </a:xfrm>
          </p:grpSpPr>
          <p:sp>
            <p:nvSpPr>
              <p:cNvPr id="405" name="Rounded Rectangle 57"/>
              <p:cNvSpPr/>
              <p:nvPr/>
            </p:nvSpPr>
            <p:spPr>
              <a:xfrm>
                <a:off x="1584" y="934916"/>
                <a:ext cx="9372" cy="4394"/>
              </a:xfrm>
              <a:prstGeom prst="roundRect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grpSp>
            <p:nvGrpSpPr>
              <p:cNvPr id="448" name="Group 448"/>
              <p:cNvGrpSpPr/>
              <p:nvPr/>
            </p:nvGrpSpPr>
            <p:grpSpPr>
              <a:xfrm>
                <a:off x="2185" y="935073"/>
                <a:ext cx="8550" cy="3959"/>
                <a:chOff x="1800" y="935029"/>
                <a:chExt cx="8550" cy="3959"/>
              </a:xfrm>
            </p:grpSpPr>
            <p:grpSp>
              <p:nvGrpSpPr>
                <p:cNvPr id="447" name="Group 447"/>
                <p:cNvGrpSpPr/>
                <p:nvPr/>
              </p:nvGrpSpPr>
              <p:grpSpPr>
                <a:xfrm>
                  <a:off x="1800" y="935029"/>
                  <a:ext cx="3506" cy="3959"/>
                  <a:chOff x="1800" y="935029"/>
                  <a:chExt cx="3506" cy="3959"/>
                </a:xfrm>
              </p:grpSpPr>
              <p:grpSp>
                <p:nvGrpSpPr>
                  <p:cNvPr id="437" name="Group 437"/>
                  <p:cNvGrpSpPr/>
                  <p:nvPr/>
                </p:nvGrpSpPr>
                <p:grpSpPr>
                  <a:xfrm>
                    <a:off x="1800" y="935029"/>
                    <a:ext cx="3506" cy="3959"/>
                    <a:chOff x="1800" y="935029"/>
                    <a:chExt cx="3506" cy="3959"/>
                  </a:xfrm>
                </p:grpSpPr>
                <p:grpSp>
                  <p:nvGrpSpPr>
                    <p:cNvPr id="424" name="Group 424"/>
                    <p:cNvGrpSpPr/>
                    <p:nvPr/>
                  </p:nvGrpSpPr>
                  <p:grpSpPr>
                    <a:xfrm>
                      <a:off x="1800" y="935029"/>
                      <a:ext cx="3506" cy="3959"/>
                      <a:chOff x="1800" y="935029"/>
                      <a:chExt cx="3506" cy="3959"/>
                    </a:xfrm>
                  </p:grpSpPr>
                  <p:sp>
                    <p:nvSpPr>
                      <p:cNvPr id="412" name="Rectangle: Rounded Corners 7"/>
                      <p:cNvSpPr/>
                      <p:nvPr/>
                    </p:nvSpPr>
                    <p:spPr>
                      <a:xfrm>
                        <a:off x="1800" y="935507"/>
                        <a:ext cx="3506" cy="3481"/>
                      </a:xfrm>
                      <a:prstGeom prst="roundRect">
                        <a:avLst>
                          <a:gd name="adj" fmla="val 4888"/>
                        </a:avLst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blurRad="203200" dist="38100" dir="2700000" sx="97000" sy="97000" algn="tl" rotWithShape="0">
                          <a:prstClr val="black">
                            <a:alpha val="41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US" altLang="zh-CN" sz="1050" kern="100">
                            <a:latin typeface="Calibri" panose="020F0502020204030204"/>
                            <a:ea typeface="SimSun" panose="02010600030101010101" pitchFamily="2" charset="-122"/>
                            <a:cs typeface="Times New Roman" panose="02020603050405020304" charset="-122"/>
                            <a:sym typeface="Times New Roman" panose="02020603050405020304" charset="-122"/>
                          </a:rPr>
                          <a:t> </a:t>
                        </a:r>
                        <a:endParaRPr lang="en-US" altLang="zh-CN" sz="1050" kern="100"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endParaRPr>
                      </a:p>
                    </p:txBody>
                  </p:sp>
                  <p:pic>
                    <p:nvPicPr>
                      <p:cNvPr id="406" name="Picture 49"/>
                      <p:cNvPicPr>
                        <a:picLocks noChangeAspect="1"/>
                      </p:cNvPicPr>
                      <p:nvPr/>
                    </p:nvPicPr>
                    <p:blipFill>
                      <a:blip r:embed="rId1"/>
                      <a:stretch>
                        <a:fillRect/>
                      </a:stretch>
                    </p:blipFill>
                    <p:spPr>
                      <a:xfrm>
                        <a:off x="1939" y="935029"/>
                        <a:ext cx="802" cy="916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398" name="Text Box 5"/>
                    <p:cNvSpPr txBox="1"/>
                    <p:nvPr/>
                  </p:nvSpPr>
                  <p:spPr>
                    <a:xfrm>
                      <a:off x="2690" y="935071"/>
                      <a:ext cx="2327" cy="3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pPr marL="0" marR="0" algn="l" ea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1" u="sng" kern="1200">
                          <a:solidFill>
                            <a:srgbClr val="000000"/>
                          </a:solidFill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rPr>
                        <a:t>Server Application</a:t>
                      </a:r>
                      <a:endParaRPr lang="en-US" altLang="zh-CN" sz="900" kern="0">
                        <a:latin typeface="Times New Roman" panose="02020603050405020304" charset="-122"/>
                        <a:ea typeface="SimSun" panose="02010600030101010101" pitchFamily="2" charset="-122"/>
                        <a:cs typeface="Times New Roman" panose="02020603050405020304" charset="-122"/>
                        <a:sym typeface="Times New Roman" panose="02020603050405020304" charset="-122"/>
                      </a:endParaRPr>
                    </a:p>
                  </p:txBody>
                </p:sp>
              </p:grpSp>
              <p:grpSp>
                <p:nvGrpSpPr>
                  <p:cNvPr id="446" name="Group 446"/>
                  <p:cNvGrpSpPr/>
                  <p:nvPr/>
                </p:nvGrpSpPr>
                <p:grpSpPr>
                  <a:xfrm>
                    <a:off x="1835" y="935560"/>
                    <a:ext cx="3181" cy="3179"/>
                    <a:chOff x="1835" y="935560"/>
                    <a:chExt cx="3181" cy="3179"/>
                  </a:xfrm>
                </p:grpSpPr>
                <p:grpSp>
                  <p:nvGrpSpPr>
                    <p:cNvPr id="430" name="Group 430"/>
                    <p:cNvGrpSpPr/>
                    <p:nvPr/>
                  </p:nvGrpSpPr>
                  <p:grpSpPr>
                    <a:xfrm>
                      <a:off x="1835" y="936345"/>
                      <a:ext cx="2420" cy="2394"/>
                      <a:chOff x="1835" y="935828"/>
                      <a:chExt cx="2420" cy="2394"/>
                    </a:xfrm>
                  </p:grpSpPr>
                  <p:grpSp>
                    <p:nvGrpSpPr>
                      <p:cNvPr id="426" name="Group 426"/>
                      <p:cNvGrpSpPr/>
                      <p:nvPr/>
                    </p:nvGrpSpPr>
                    <p:grpSpPr>
                      <a:xfrm>
                        <a:off x="2867" y="935828"/>
                        <a:ext cx="1388" cy="2394"/>
                        <a:chOff x="2768" y="935828"/>
                        <a:chExt cx="1388" cy="2394"/>
                      </a:xfrm>
                    </p:grpSpPr>
                    <p:grpSp>
                      <p:nvGrpSpPr>
                        <p:cNvPr id="417" name="Group 417"/>
                        <p:cNvGrpSpPr/>
                        <p:nvPr/>
                      </p:nvGrpSpPr>
                      <p:grpSpPr>
                        <a:xfrm>
                          <a:off x="2768" y="937538"/>
                          <a:ext cx="1378" cy="684"/>
                          <a:chOff x="2573" y="936915"/>
                          <a:chExt cx="1378" cy="684"/>
                        </a:xfrm>
                      </p:grpSpPr>
                      <p:sp>
                        <p:nvSpPr>
                          <p:cNvPr id="413" name="Text Box 413"/>
                          <p:cNvSpPr txBox="1"/>
                          <p:nvPr/>
                        </p:nvSpPr>
                        <p:spPr>
                          <a:xfrm>
                            <a:off x="2573" y="936915"/>
                            <a:ext cx="990" cy="684"/>
                          </a:xfrm>
                          <a:prstGeom prst="rect">
                            <a:avLst/>
                          </a:prstGeom>
                        </p:spPr>
                        <p:style>
                          <a:lnRef idx="1">
                            <a:schemeClr val="dk1"/>
                          </a:lnRef>
                          <a:fillRef idx="2">
                            <a:schemeClr val="dk1"/>
                          </a:fillRef>
                          <a:effectRef idx="1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    <a:noAutofit/>
                          </a:bodyPr>
                          <a:lstStyle/>
                          <a:p>
                            <a:r>
                              <a:rPr lang="en-US" altLang="zh-CN" sz="750" b="1" kern="100">
                                <a:effectLst>
                                  <a:outerShdw sx="0" sy="0">
                                    <a:srgbClr val="000000"/>
                                  </a:outerShdw>
                                </a:effectLst>
                                <a:latin typeface="Calibri" panose="020F0502020204030204"/>
                                <a:ea typeface="SimSun" panose="02010600030101010101" pitchFamily="2" charset="-122"/>
                                <a:cs typeface="Times New Roman" panose="02020603050405020304" charset="-122"/>
                                <a:sym typeface="Times New Roman" panose="02020603050405020304" charset="-122"/>
                              </a:rPr>
                              <a:t>Staging </a:t>
                            </a:r>
                            <a:endParaRPr lang="en-US" altLang="zh-CN" sz="750" b="1" kern="100">
                              <a:effectLst>
                                <a:outerShdw sx="0" sy="0">
                                  <a:srgbClr val="000000"/>
                                </a:outerShdw>
                              </a:effectLst>
                              <a:latin typeface="Calibri" panose="020F0502020204030204"/>
                              <a:ea typeface="SimSun" panose="02010600030101010101" pitchFamily="2" charset="-122"/>
                              <a:cs typeface="Times New Roman" panose="02020603050405020304" charset="-122"/>
                              <a:sym typeface="Times New Roman" panose="02020603050405020304" charset="-122"/>
                            </a:endParaRPr>
                          </a:p>
                          <a:p>
                            <a:r>
                              <a:rPr lang="en-US" altLang="zh-CN" sz="750" b="1" kern="100">
                                <a:effectLst>
                                  <a:outerShdw sx="0" sy="0">
                                    <a:srgbClr val="000000"/>
                                  </a:outerShdw>
                                </a:effectLst>
                                <a:latin typeface="Calibri" panose="020F0502020204030204"/>
                                <a:ea typeface="SimSun" panose="02010600030101010101" pitchFamily="2" charset="-122"/>
                                <a:cs typeface="Times New Roman" panose="02020603050405020304" charset="-122"/>
                                <a:sym typeface="Times New Roman" panose="02020603050405020304" charset="-122"/>
                              </a:rPr>
                              <a:t>Database </a:t>
                            </a:r>
                            <a:endParaRPr lang="en-US" altLang="zh-CN" sz="750" b="1" kern="100">
                              <a:effectLst>
                                <a:outerShdw sx="0" sy="0">
                                  <a:srgbClr val="000000"/>
                                </a:outerShdw>
                              </a:effectLst>
                              <a:latin typeface="Calibri" panose="020F0502020204030204"/>
                              <a:ea typeface="SimSun" panose="02010600030101010101" pitchFamily="2" charset="-122"/>
                              <a:cs typeface="Times New Roman" panose="02020603050405020304" charset="-122"/>
                              <a:sym typeface="Times New Roman" panose="02020603050405020304" charset="-122"/>
                            </a:endParaRPr>
                          </a:p>
                          <a:p>
                            <a:r>
                              <a:rPr lang="en-US" altLang="zh-CN" sz="750" b="1" kern="100">
                                <a:effectLst>
                                  <a:outerShdw sx="0" sy="0">
                                    <a:srgbClr val="000000"/>
                                  </a:outerShdw>
                                </a:effectLst>
                                <a:latin typeface="Calibri" panose="020F0502020204030204"/>
                                <a:ea typeface="SimSun" panose="02010600030101010101" pitchFamily="2" charset="-122"/>
                                <a:cs typeface="Times New Roman" panose="02020603050405020304" charset="-122"/>
                                <a:sym typeface="Times New Roman" panose="02020603050405020304" charset="-122"/>
                              </a:rPr>
                              <a:t>Tables</a:t>
                            </a:r>
                            <a:endParaRPr lang="en-US" altLang="zh-CN" sz="750" b="1" kern="100">
                              <a:effectLst>
                                <a:outerShdw sx="0" sy="0">
                                  <a:srgbClr val="000000"/>
                                </a:outerShdw>
                              </a:effectLst>
                              <a:latin typeface="Calibri" panose="020F0502020204030204"/>
                              <a:ea typeface="SimSun" panose="02010600030101010101" pitchFamily="2" charset="-122"/>
                              <a:cs typeface="Times New Roman" panose="02020603050405020304" charset="-122"/>
                              <a:sym typeface="Times New Roman" panose="02020603050405020304" charset="-122"/>
                            </a:endParaRPr>
                          </a:p>
                        </p:txBody>
                      </p:sp>
                      <p:pic>
                        <p:nvPicPr>
                          <p:cNvPr id="416" name="Picture 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3440" y="937006"/>
                            <a:ext cx="511" cy="5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grpSp>
                    <p:grpSp>
                      <p:nvGrpSpPr>
                        <p:cNvPr id="421" name="Group 421"/>
                        <p:cNvGrpSpPr/>
                        <p:nvPr/>
                      </p:nvGrpSpPr>
                      <p:grpSpPr>
                        <a:xfrm>
                          <a:off x="2778" y="935828"/>
                          <a:ext cx="1378" cy="684"/>
                          <a:chOff x="2573" y="936915"/>
                          <a:chExt cx="1378" cy="684"/>
                        </a:xfrm>
                      </p:grpSpPr>
                      <p:sp>
                        <p:nvSpPr>
                          <p:cNvPr id="422" name="Text Box 413"/>
                          <p:cNvSpPr txBox="1"/>
                          <p:nvPr/>
                        </p:nvSpPr>
                        <p:spPr>
                          <a:xfrm>
                            <a:off x="2573" y="936915"/>
                            <a:ext cx="990" cy="684"/>
                          </a:xfrm>
                          <a:prstGeom prst="rect">
                            <a:avLst/>
                          </a:prstGeom>
                        </p:spPr>
                        <p:style>
                          <a:lnRef idx="1">
                            <a:schemeClr val="accent1"/>
                          </a:lnRef>
                          <a:fillRef idx="2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    <a:noAutofit/>
                          </a:bodyPr>
                          <a:lstStyle/>
                          <a:p>
                            <a:r>
                              <a:rPr lang="en-US" altLang="zh-CN" sz="750" b="1" kern="100">
                                <a:effectLst>
                                  <a:outerShdw sx="0" sy="0">
                                    <a:srgbClr val="000000"/>
                                  </a:outerShdw>
                                </a:effectLst>
                                <a:latin typeface="Calibri" panose="020F0502020204030204"/>
                                <a:ea typeface="SimSun" panose="02010600030101010101" pitchFamily="2" charset="-122"/>
                                <a:cs typeface="Times New Roman" panose="02020603050405020304" charset="-122"/>
                                <a:sym typeface="Times New Roman" panose="02020603050405020304" charset="-122"/>
                              </a:rPr>
                              <a:t>Final </a:t>
                            </a:r>
                            <a:endParaRPr lang="en-US" altLang="zh-CN" sz="750" b="1" kern="100">
                              <a:effectLst>
                                <a:outerShdw sx="0" sy="0">
                                  <a:srgbClr val="000000"/>
                                </a:outerShdw>
                              </a:effectLst>
                              <a:latin typeface="Calibri" panose="020F0502020204030204"/>
                              <a:ea typeface="SimSun" panose="02010600030101010101" pitchFamily="2" charset="-122"/>
                              <a:cs typeface="Times New Roman" panose="02020603050405020304" charset="-122"/>
                              <a:sym typeface="Times New Roman" panose="02020603050405020304" charset="-122"/>
                            </a:endParaRPr>
                          </a:p>
                          <a:p>
                            <a:r>
                              <a:rPr lang="en-US" altLang="zh-CN" sz="750" b="1" kern="100">
                                <a:effectLst>
                                  <a:outerShdw sx="0" sy="0">
                                    <a:srgbClr val="000000"/>
                                  </a:outerShdw>
                                </a:effectLst>
                                <a:latin typeface="Calibri" panose="020F0502020204030204"/>
                                <a:ea typeface="SimSun" panose="02010600030101010101" pitchFamily="2" charset="-122"/>
                                <a:cs typeface="Times New Roman" panose="02020603050405020304" charset="-122"/>
                                <a:sym typeface="Times New Roman" panose="02020603050405020304" charset="-122"/>
                              </a:rPr>
                              <a:t>Database </a:t>
                            </a:r>
                            <a:endParaRPr lang="en-US" altLang="zh-CN" sz="750" b="1" kern="100">
                              <a:effectLst>
                                <a:outerShdw sx="0" sy="0">
                                  <a:srgbClr val="000000"/>
                                </a:outerShdw>
                              </a:effectLst>
                              <a:latin typeface="Calibri" panose="020F0502020204030204"/>
                              <a:ea typeface="SimSun" panose="02010600030101010101" pitchFamily="2" charset="-122"/>
                              <a:cs typeface="Times New Roman" panose="02020603050405020304" charset="-122"/>
                              <a:sym typeface="Times New Roman" panose="02020603050405020304" charset="-122"/>
                            </a:endParaRPr>
                          </a:p>
                          <a:p>
                            <a:r>
                              <a:rPr lang="en-US" altLang="zh-CN" sz="750" b="1" kern="100">
                                <a:effectLst>
                                  <a:outerShdw sx="0" sy="0">
                                    <a:srgbClr val="000000"/>
                                  </a:outerShdw>
                                </a:effectLst>
                                <a:latin typeface="Calibri" panose="020F0502020204030204"/>
                                <a:ea typeface="SimSun" panose="02010600030101010101" pitchFamily="2" charset="-122"/>
                                <a:cs typeface="Times New Roman" panose="02020603050405020304" charset="-122"/>
                                <a:sym typeface="Times New Roman" panose="02020603050405020304" charset="-122"/>
                              </a:rPr>
                              <a:t>Tables</a:t>
                            </a:r>
                            <a:endParaRPr lang="en-US" altLang="zh-CN" sz="750" b="1" kern="100">
                              <a:effectLst>
                                <a:outerShdw sx="0" sy="0">
                                  <a:srgbClr val="000000"/>
                                </a:outerShdw>
                              </a:effectLst>
                              <a:latin typeface="Calibri" panose="020F0502020204030204"/>
                              <a:ea typeface="SimSun" panose="02010600030101010101" pitchFamily="2" charset="-122"/>
                              <a:cs typeface="Times New Roman" panose="02020603050405020304" charset="-122"/>
                              <a:sym typeface="Times New Roman" panose="02020603050405020304" charset="-122"/>
                            </a:endParaRPr>
                          </a:p>
                        </p:txBody>
                      </p:sp>
                      <p:pic>
                        <p:nvPicPr>
                          <p:cNvPr id="423" name="Picture 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3440" y="937006"/>
                            <a:ext cx="511" cy="5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grpSp>
                    <p:sp>
                      <p:nvSpPr>
                        <p:cNvPr id="425" name="Left Arrow 54"/>
                        <p:cNvSpPr/>
                        <p:nvPr/>
                      </p:nvSpPr>
                      <p:spPr>
                        <a:xfrm rot="5400000">
                          <a:off x="3280" y="936990"/>
                          <a:ext cx="1237" cy="235"/>
                        </a:xfrm>
                        <a:prstGeom prst="leftArrow">
                          <a:avLst>
                            <a:gd name="adj1" fmla="val 50000"/>
                            <a:gd name="adj2" fmla="val 90277"/>
                          </a:avLst>
                        </a:prstGeom>
                      </p:spPr>
                      <p:style>
                        <a:lnRef idx="2">
                          <a:schemeClr val="accent4">
                            <a:shade val="50000"/>
                          </a:schemeClr>
                        </a:lnRef>
                        <a:fillRef idx="1">
                          <a:schemeClr val="accent4"/>
                        </a:fillRef>
                        <a:effectRef idx="0">
                          <a:schemeClr val="accent4"/>
                        </a:effectRef>
                        <a:fontRef idx="minor">
                          <a:schemeClr val="lt1"/>
                        </a:fontRef>
                      </p:style>
                    </p:sp>
                  </p:grpSp>
                  <p:sp>
                    <p:nvSpPr>
                      <p:cNvPr id="427" name="Rounded Rectangle 427"/>
                      <p:cNvSpPr/>
                      <p:nvPr/>
                    </p:nvSpPr>
                    <p:spPr>
                      <a:xfrm>
                        <a:off x="1835" y="936903"/>
                        <a:ext cx="1802" cy="358"/>
                      </a:xfrm>
                      <a:prstGeom prst="roundRect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<a:noAutofit/>
                      </a:bodyPr>
                      <a:lstStyle/>
                      <a:p>
                        <a:pPr algn="ctr"/>
                        <a:r>
                          <a:rPr lang="en-US" altLang="zh-CN" sz="650" b="1" kern="100">
                            <a:latin typeface="Calibri" panose="020F0502020204030204"/>
                            <a:ea typeface="SimSun" panose="02010600030101010101" pitchFamily="2" charset="-122"/>
                            <a:cs typeface="Times New Roman" panose="02020603050405020304" charset="-122"/>
                            <a:sym typeface="Times New Roman" panose="02020603050405020304" charset="-122"/>
                          </a:rPr>
                          <a:t>Data Validation &amp; Transfer</a:t>
                        </a:r>
                        <a:endParaRPr lang="en-US" altLang="zh-CN" sz="500" b="1" kern="100"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endParaRPr>
                      </a:p>
                    </p:txBody>
                  </p:sp>
                  <p:sp>
                    <p:nvSpPr>
                      <p:cNvPr id="429" name="Left Arrow 54"/>
                      <p:cNvSpPr/>
                      <p:nvPr/>
                    </p:nvSpPr>
                    <p:spPr>
                      <a:xfrm>
                        <a:off x="3636" y="937032"/>
                        <a:ext cx="279" cy="120"/>
                      </a:xfrm>
                      <a:prstGeom prst="leftArrow">
                        <a:avLst/>
                      </a:prstGeom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</p:sp>
                </p:grpSp>
                <p:grpSp>
                  <p:nvGrpSpPr>
                    <p:cNvPr id="435" name="Group 435"/>
                    <p:cNvGrpSpPr/>
                    <p:nvPr/>
                  </p:nvGrpSpPr>
                  <p:grpSpPr>
                    <a:xfrm>
                      <a:off x="3958" y="935560"/>
                      <a:ext cx="1059" cy="828"/>
                      <a:chOff x="3958" y="935560"/>
                      <a:chExt cx="1059" cy="828"/>
                    </a:xfrm>
                  </p:grpSpPr>
                  <p:sp>
                    <p:nvSpPr>
                      <p:cNvPr id="431" name="Bent Arrow 431"/>
                      <p:cNvSpPr/>
                      <p:nvPr/>
                    </p:nvSpPr>
                    <p:spPr>
                      <a:xfrm>
                        <a:off x="3958" y="935774"/>
                        <a:ext cx="322" cy="614"/>
                      </a:xfrm>
                      <a:prstGeom prst="bentArrow">
                        <a:avLst>
                          <a:gd name="adj1" fmla="val 33457"/>
                          <a:gd name="adj2" fmla="val 25000"/>
                          <a:gd name="adj3" fmla="val 25000"/>
                          <a:gd name="adj4" fmla="val 43750"/>
                        </a:avLst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433" name="Oval 433"/>
                      <p:cNvSpPr/>
                      <p:nvPr/>
                    </p:nvSpPr>
                    <p:spPr>
                      <a:xfrm>
                        <a:off x="4337" y="935560"/>
                        <a:ext cx="680" cy="644"/>
                      </a:xfrm>
                      <a:prstGeom prst="ellipse">
                        <a:avLst/>
                      </a:prstGeom>
                    </p:spPr>
                    <p:style>
                      <a:lnRef idx="2">
                        <a:schemeClr val="accent3"/>
                      </a:lnRef>
                      <a:fillRef idx="1">
                        <a:schemeClr val="lt1"/>
                      </a:fillRef>
                      <a:effectRef idx="0">
                        <a:schemeClr val="accent3"/>
                      </a:effectRef>
                      <a:fontRef idx="minor">
                        <a:schemeClr val="dk1"/>
                      </a:fontRef>
                    </p:style>
                  </p:sp>
                  <p:pic>
                    <p:nvPicPr>
                      <p:cNvPr id="432" name="Picture 3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02" y="935671"/>
                        <a:ext cx="396" cy="4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grpSp>
              </p:grpSp>
            </p:grpSp>
            <p:grpSp>
              <p:nvGrpSpPr>
                <p:cNvPr id="445" name="Group 445"/>
                <p:cNvGrpSpPr/>
                <p:nvPr/>
              </p:nvGrpSpPr>
              <p:grpSpPr>
                <a:xfrm>
                  <a:off x="4386" y="935514"/>
                  <a:ext cx="5964" cy="3333"/>
                  <a:chOff x="4386" y="935514"/>
                  <a:chExt cx="5964" cy="3333"/>
                </a:xfrm>
              </p:grpSpPr>
              <p:grpSp>
                <p:nvGrpSpPr>
                  <p:cNvPr id="443" name="Group 443"/>
                  <p:cNvGrpSpPr/>
                  <p:nvPr/>
                </p:nvGrpSpPr>
                <p:grpSpPr>
                  <a:xfrm>
                    <a:off x="4386" y="935514"/>
                    <a:ext cx="4549" cy="3333"/>
                    <a:chOff x="4386" y="935514"/>
                    <a:chExt cx="4549" cy="3333"/>
                  </a:xfrm>
                </p:grpSpPr>
                <p:sp>
                  <p:nvSpPr>
                    <p:cNvPr id="410" name="Text Box 55"/>
                    <p:cNvSpPr txBox="1"/>
                    <p:nvPr/>
                  </p:nvSpPr>
                  <p:spPr>
                    <a:xfrm>
                      <a:off x="6423" y="935514"/>
                      <a:ext cx="1866" cy="33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noAutofit/>
                    </a:bodyPr>
                    <a:lstStyle/>
                    <a:p>
                      <a:pPr marL="0" marR="0" algn="l" ea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rPr>
                        <a:t>Download Datasets</a:t>
                      </a:r>
                      <a:endParaRPr lang="en-US" altLang="zh-CN" sz="1000" kern="0">
                        <a:latin typeface="Times New Roman" panose="02020603050405020304" charset="-122"/>
                        <a:ea typeface="SimSun" panose="02010600030101010101" pitchFamily="2" charset="-122"/>
                        <a:cs typeface="Times New Roman" panose="02020603050405020304" charset="-122"/>
                        <a:sym typeface="Times New Roman" panose="02020603050405020304" charset="-122"/>
                      </a:endParaRPr>
                    </a:p>
                  </p:txBody>
                </p:sp>
                <p:sp>
                  <p:nvSpPr>
                    <p:cNvPr id="411" name="Text Box 56"/>
                    <p:cNvSpPr txBox="1"/>
                    <p:nvPr/>
                  </p:nvSpPr>
                  <p:spPr>
                    <a:xfrm>
                      <a:off x="6530" y="938397"/>
                      <a:ext cx="1480" cy="45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noAutofit/>
                    </a:bodyPr>
                    <a:lstStyle/>
                    <a:p>
                      <a:pPr marL="0" marR="0" algn="ctr" ea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200">
                          <a:solidFill>
                            <a:srgbClr val="000000"/>
                          </a:solidFill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rPr>
                        <a:t>Upload Forms</a:t>
                      </a:r>
                      <a:endParaRPr lang="en-US" altLang="zh-CN" sz="1050" kern="0">
                        <a:latin typeface="Times New Roman" panose="02020603050405020304" charset="-122"/>
                        <a:ea typeface="SimSun" panose="02010600030101010101" pitchFamily="2" charset="-122"/>
                        <a:cs typeface="Times New Roman" panose="02020603050405020304" charset="-122"/>
                        <a:sym typeface="Times New Roman" panose="02020603050405020304" charset="-122"/>
                      </a:endParaRPr>
                    </a:p>
                  </p:txBody>
                </p:sp>
                <p:sp>
                  <p:nvSpPr>
                    <p:cNvPr id="438" name="Bent Arrow 438"/>
                    <p:cNvSpPr/>
                    <p:nvPr/>
                  </p:nvSpPr>
                  <p:spPr>
                    <a:xfrm rot="5400000">
                      <a:off x="6817" y="934078"/>
                      <a:ext cx="380" cy="3856"/>
                    </a:xfrm>
                    <a:prstGeom prst="bentArrow">
                      <a:avLst>
                        <a:gd name="adj1" fmla="val 33457"/>
                        <a:gd name="adj2" fmla="val 35592"/>
                        <a:gd name="adj3" fmla="val 25000"/>
                        <a:gd name="adj4" fmla="val 4375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440" name="Bent Arrow 440"/>
                    <p:cNvSpPr/>
                    <p:nvPr/>
                  </p:nvSpPr>
                  <p:spPr>
                    <a:xfrm rot="10800000">
                      <a:off x="4386" y="938188"/>
                      <a:ext cx="4488" cy="374"/>
                    </a:xfrm>
                    <a:prstGeom prst="bentArrow">
                      <a:avLst>
                        <a:gd name="adj1" fmla="val 33457"/>
                        <a:gd name="adj2" fmla="val 35592"/>
                        <a:gd name="adj3" fmla="val 25000"/>
                        <a:gd name="adj4" fmla="val 4375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grpSp>
                <p:nvGrpSpPr>
                  <p:cNvPr id="442" name="Group 442"/>
                  <p:cNvGrpSpPr/>
                  <p:nvPr/>
                </p:nvGrpSpPr>
                <p:grpSpPr>
                  <a:xfrm>
                    <a:off x="7889" y="936353"/>
                    <a:ext cx="2461" cy="1816"/>
                    <a:chOff x="7889" y="936353"/>
                    <a:chExt cx="2461" cy="1816"/>
                  </a:xfrm>
                </p:grpSpPr>
                <p:pic>
                  <p:nvPicPr>
                    <p:cNvPr id="407" name="Picture 50"/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8170" y="936353"/>
                      <a:ext cx="1099" cy="141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41" name="Text Box 5"/>
                    <p:cNvSpPr txBox="1"/>
                    <p:nvPr/>
                  </p:nvSpPr>
                  <p:spPr>
                    <a:xfrm>
                      <a:off x="7889" y="937770"/>
                      <a:ext cx="2461" cy="3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pPr marL="0" marR="0" algn="l" ea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1" u="sng" kern="1200">
                          <a:solidFill>
                            <a:srgbClr val="000000"/>
                          </a:solidFill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rPr>
                        <a:t>Mobile</a:t>
                      </a:r>
                      <a:r>
                        <a:rPr lang="en-US" altLang="zh-CN" sz="1000" b="1" u="sng" kern="1200">
                          <a:solidFill>
                            <a:srgbClr val="000000"/>
                          </a:solidFill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rPr>
                        <a:t> Application</a:t>
                      </a:r>
                      <a:endParaRPr lang="en-US" altLang="zh-CN" sz="900" kern="0">
                        <a:latin typeface="Times New Roman" panose="02020603050405020304" charset="-122"/>
                        <a:ea typeface="SimSun" panose="02010600030101010101" pitchFamily="2" charset="-122"/>
                        <a:cs typeface="Times New Roman" panose="02020603050405020304" charset="-122"/>
                        <a:sym typeface="Times New Roman" panose="02020603050405020304" charset="-122"/>
                      </a:endParaRPr>
                    </a:p>
                  </p:txBody>
                </p:sp>
              </p:grpSp>
            </p:grpSp>
          </p:grpSp>
        </p:grpSp>
        <p:sp>
          <p:nvSpPr>
            <p:cNvPr id="450" name="Text Box 450"/>
            <p:cNvSpPr txBox="1"/>
            <p:nvPr/>
          </p:nvSpPr>
          <p:spPr>
            <a:xfrm>
              <a:off x="3450" y="931175"/>
              <a:ext cx="370" cy="357"/>
            </a:xfrm>
            <a:prstGeom prst="rect">
              <a:avLst/>
            </a:prstGeom>
            <a:solidFill>
              <a:schemeClr val="bg2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altLang="zh-CN" sz="1050" b="1" kern="100"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1</a:t>
              </a:r>
              <a:endParaRPr lang="en-US" altLang="zh-CN" sz="1050" b="1" kern="100"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sp>
          <p:nvSpPr>
            <p:cNvPr id="451" name="Text Box 451"/>
            <p:cNvSpPr txBox="1"/>
            <p:nvPr/>
          </p:nvSpPr>
          <p:spPr>
            <a:xfrm>
              <a:off x="4117" y="931171"/>
              <a:ext cx="370" cy="357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altLang="zh-CN" sz="1050" b="1" kern="100"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2</a:t>
              </a:r>
              <a:endParaRPr lang="en-US" altLang="zh-CN" sz="1050" b="1" kern="100"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sp>
          <p:nvSpPr>
            <p:cNvPr id="452" name="Text Box 452"/>
            <p:cNvSpPr txBox="1"/>
            <p:nvPr/>
          </p:nvSpPr>
          <p:spPr>
            <a:xfrm>
              <a:off x="8835" y="930848"/>
              <a:ext cx="370" cy="357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altLang="zh-CN" sz="1050" b="1" kern="100"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3</a:t>
              </a:r>
              <a:endParaRPr lang="en-US" altLang="zh-CN" sz="1050" b="1" kern="100"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sp>
          <p:nvSpPr>
            <p:cNvPr id="453" name="Text Box 453"/>
            <p:cNvSpPr txBox="1"/>
            <p:nvPr/>
          </p:nvSpPr>
          <p:spPr>
            <a:xfrm>
              <a:off x="9229" y="932290"/>
              <a:ext cx="370" cy="357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altLang="zh-CN" sz="1050" b="1" kern="100"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4</a:t>
              </a:r>
              <a:endParaRPr lang="en-US" altLang="zh-CN" sz="1050" b="1" kern="100"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sp>
          <p:nvSpPr>
            <p:cNvPr id="454" name="Text Box 454"/>
            <p:cNvSpPr txBox="1"/>
            <p:nvPr/>
          </p:nvSpPr>
          <p:spPr>
            <a:xfrm>
              <a:off x="8453" y="933984"/>
              <a:ext cx="370" cy="357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altLang="zh-CN" sz="1050" b="1" kern="100"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5</a:t>
              </a:r>
              <a:endParaRPr lang="en-US" altLang="zh-CN" sz="1050" b="1" kern="100"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sp>
          <p:nvSpPr>
            <p:cNvPr id="455" name="Text Box 455"/>
            <p:cNvSpPr txBox="1"/>
            <p:nvPr/>
          </p:nvSpPr>
          <p:spPr>
            <a:xfrm>
              <a:off x="4665" y="932862"/>
              <a:ext cx="370" cy="357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altLang="zh-CN" sz="1050" b="1" kern="100"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6</a:t>
              </a:r>
              <a:endParaRPr lang="en-US" altLang="zh-CN" sz="1050" b="1" kern="100"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</p:grpSp>
      <p:sp>
        <p:nvSpPr>
          <p:cNvPr id="100" name="Text Box 99"/>
          <p:cNvSpPr txBox="1"/>
          <p:nvPr/>
        </p:nvSpPr>
        <p:spPr>
          <a:xfrm>
            <a:off x="150495" y="1062990"/>
            <a:ext cx="5638165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</a:rPr>
              <a:t>1. </a:t>
            </a: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Initially you have to setup the server application (configure hierarchy levels, regions, users, etc)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0" indent="0"/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</a:rPr>
              <a:t>2. </a:t>
            </a: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Export database for mobile synchronization (Export XML/ZIP files)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0" indent="0"/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</a:rPr>
              <a:t>3. </a:t>
            </a: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Login to Mobile app and synchronize with the Server (Download data from Server)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0" indent="0"/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</a:rPr>
              <a:t>4. </a:t>
            </a: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Start Data Collection using the Mobile App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0" indent="0"/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</a:rPr>
              <a:t>5. </a:t>
            </a: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Upload collected data to the Server (upload</a:t>
            </a: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 XML data</a:t>
            </a: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)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0" indent="0"/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</a:rPr>
              <a:t>6. </a:t>
            </a: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Execute Data validation and Transfer from Staging databases tables to the Final database tables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0" indent="0"/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</a:rPr>
              <a:t>7. </a:t>
            </a:r>
            <a:r>
              <a:rPr 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Now we will repeat continuously the synchronization process by having loops from process 2 up to 6.</a:t>
            </a:r>
            <a:endParaRPr 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>
                <a:sym typeface="+mn-ea"/>
              </a:rPr>
              <a:t>Data Flow Process</a:t>
            </a:r>
            <a:r>
              <a:rPr lang="en-US" altLang="pt-PT" sz="4000" dirty="0">
                <a:sym typeface="+mn-ea"/>
              </a:rPr>
              <a:t> - </a:t>
            </a:r>
            <a:r>
              <a:rPr lang="pt-PT" altLang="en-US" sz="4000" dirty="0">
                <a:sym typeface="+mn-ea"/>
              </a:rPr>
              <a:t>Staging Tables</a:t>
            </a:r>
            <a:endParaRPr lang="pt-PT" altLang="en-GB" sz="40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822960" y="4239895"/>
            <a:ext cx="11066145" cy="2037080"/>
            <a:chOff x="1296" y="6869"/>
            <a:chExt cx="17427" cy="3208"/>
          </a:xfrm>
        </p:grpSpPr>
        <p:sp>
          <p:nvSpPr>
            <p:cNvPr id="8" name="Rectangle: Rounded Corners 7"/>
            <p:cNvSpPr/>
            <p:nvPr/>
          </p:nvSpPr>
          <p:spPr>
            <a:xfrm>
              <a:off x="1296" y="6885"/>
              <a:ext cx="17427" cy="3192"/>
            </a:xfrm>
            <a:prstGeom prst="roundRect">
              <a:avLst>
                <a:gd name="adj" fmla="val 488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/>
            </a:p>
          </p:txBody>
        </p:sp>
        <p:sp>
          <p:nvSpPr>
            <p:cNvPr id="10" name="Text Box 9"/>
            <p:cNvSpPr txBox="1"/>
            <p:nvPr/>
          </p:nvSpPr>
          <p:spPr>
            <a:xfrm>
              <a:off x="1296" y="6869"/>
              <a:ext cx="1027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pt-PT" sz="1400" b="1" u="sng"/>
                <a:t>Mobile Data (</a:t>
              </a:r>
              <a:r>
                <a:rPr lang="pt-PT" altLang="en-US" sz="1400" b="1" u="sng"/>
                <a:t>XML Content</a:t>
              </a:r>
              <a:r>
                <a:rPr lang="en-US" altLang="pt-PT" sz="1400" b="1" u="sng"/>
                <a:t>)</a:t>
              </a:r>
              <a:r>
                <a:rPr lang="pt-PT" altLang="en-US" sz="1400" b="1" u="sng"/>
                <a:t> to Server Database Tables</a:t>
              </a:r>
              <a:endParaRPr lang="pt-PT" altLang="en-US" sz="1400" b="1" u="sng"/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1627" y="7497"/>
              <a:ext cx="15464" cy="2472"/>
              <a:chOff x="1627" y="7369"/>
              <a:chExt cx="15464" cy="2472"/>
            </a:xfrm>
          </p:grpSpPr>
          <p:sp>
            <p:nvSpPr>
              <p:cNvPr id="16" name="Rectangle: Rounded Corners 7"/>
              <p:cNvSpPr/>
              <p:nvPr/>
            </p:nvSpPr>
            <p:spPr>
              <a:xfrm>
                <a:off x="2302" y="7590"/>
                <a:ext cx="2434" cy="1904"/>
              </a:xfrm>
              <a:prstGeom prst="roundRect">
                <a:avLst>
                  <a:gd name="adj" fmla="val 488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03200" dist="38100" dir="2700000" sx="97000" sy="97000" algn="tl" rotWithShape="0">
                  <a:prstClr val="black">
                    <a:alpha val="4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Core Form Data</a:t>
                </a:r>
                <a:b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</a:br>
                <a:b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</a:br>
                <a: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</a:t>
                </a:r>
                <a:b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</a:br>
                <a:b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</a:br>
                <a: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Extension Form Data</a:t>
                </a:r>
                <a:endParaRPr lang="pt-PT" altLang="en-US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7" name="Rectangle: Rounded Corners 7"/>
              <p:cNvSpPr/>
              <p:nvPr/>
            </p:nvSpPr>
            <p:spPr>
              <a:xfrm>
                <a:off x="7361" y="7612"/>
                <a:ext cx="3458" cy="2114"/>
              </a:xfrm>
              <a:prstGeom prst="roundRect">
                <a:avLst>
                  <a:gd name="adj" fmla="val 488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03200" dist="38100" dir="2700000" sx="97000" sy="97000" algn="tl" rotWithShape="0">
                  <a:prstClr val="black">
                    <a:alpha val="4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r>
                  <a:rPr lang="pt-PT" altLang="en-US" sz="12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raw_household</a:t>
                </a:r>
                <a:b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</a:br>
                <a: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id</a:t>
                </a:r>
                <a:b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</a:br>
                <a: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other fields</a:t>
                </a:r>
                <a:endParaRPr lang="pt-PT" altLang="en-US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l"/>
                <a: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.........</a:t>
                </a:r>
                <a:b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</a:br>
                <a: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</a:t>
                </a:r>
                <a:r>
                  <a:rPr lang="pt-PT" altLang="en-US" sz="1200" dirty="0">
                    <a:solidFill>
                      <a:schemeClr val="bg2">
                        <a:lumMod val="5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extension_form</a:t>
                </a:r>
                <a: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(xml blob)</a:t>
                </a:r>
                <a:endParaRPr lang="pt-PT" altLang="en-US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l"/>
                <a: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</a:t>
                </a:r>
                <a:r>
                  <a:rPr lang="pt-PT" altLang="en-US" sz="1200" b="1" dirty="0">
                    <a:solidFill>
                      <a:schemeClr val="accent3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processed</a:t>
                </a:r>
                <a:r>
                  <a:rPr lang="pt-PT" altLang="en-US" sz="12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(INT flag)</a:t>
                </a:r>
                <a:endParaRPr lang="pt-PT" altLang="en-US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" name="Rectangle: Rounded Corners 7"/>
              <p:cNvSpPr/>
              <p:nvPr/>
            </p:nvSpPr>
            <p:spPr>
              <a:xfrm>
                <a:off x="13471" y="7699"/>
                <a:ext cx="2389" cy="608"/>
              </a:xfrm>
              <a:prstGeom prst="roundRect">
                <a:avLst>
                  <a:gd name="adj" fmla="val 4888"/>
                </a:avLst>
              </a:prstGeom>
              <a:solidFill>
                <a:schemeClr val="bg1"/>
              </a:solidFill>
              <a:ln>
                <a:noFill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blurRad="203200" dist="38100" dir="2700000" sx="97000" sy="97000" algn="tl" rotWithShape="0">
                  <a:schemeClr val="tx1">
                    <a:alpha val="41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p>
                <a:pPr algn="ctr"/>
                <a:r>
                  <a:rPr lang="pt-PT" altLang="en-US" sz="12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household</a:t>
                </a:r>
                <a:endParaRPr lang="pt-PT" altLang="en-US" sz="12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9" name="Right Arrow 18"/>
              <p:cNvSpPr/>
              <p:nvPr/>
            </p:nvSpPr>
            <p:spPr>
              <a:xfrm>
                <a:off x="5054" y="8414"/>
                <a:ext cx="432" cy="241"/>
              </a:xfrm>
              <a:prstGeom prst="rightArrow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0" name="Right Arrow 19"/>
              <p:cNvSpPr/>
              <p:nvPr/>
            </p:nvSpPr>
            <p:spPr>
              <a:xfrm>
                <a:off x="11139" y="8456"/>
                <a:ext cx="432" cy="241"/>
              </a:xfrm>
              <a:prstGeom prst="rightArrow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pic>
            <p:nvPicPr>
              <p:cNvPr id="21" name="Picture 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795" y="8265"/>
                <a:ext cx="396" cy="43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" name="Rectangle: Rounded Corners 7"/>
              <p:cNvSpPr/>
              <p:nvPr/>
            </p:nvSpPr>
            <p:spPr>
              <a:xfrm>
                <a:off x="1627" y="7369"/>
                <a:ext cx="3286" cy="2471"/>
              </a:xfrm>
              <a:prstGeom prst="roundRect">
                <a:avLst>
                  <a:gd name="adj" fmla="val 4888"/>
                </a:avLst>
              </a:prstGeom>
              <a:noFill/>
              <a:ln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</a:gradFill>
              </a:ln>
              <a:effectLst>
                <a:outerShdw blurRad="203200" dist="38100" dir="2700000" sx="97000" sy="97000" algn="tl" rotWithShape="0">
                  <a:prstClr val="black">
                    <a:alpha val="41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pt-PT" altLang="en-US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5793" y="8179"/>
                <a:ext cx="1378" cy="684"/>
                <a:chOff x="7050" y="5124"/>
                <a:chExt cx="1378" cy="684"/>
              </a:xfrm>
            </p:grpSpPr>
            <p:sp>
              <p:nvSpPr>
                <p:cNvPr id="23" name="Text Box 413"/>
                <p:cNvSpPr txBox="1"/>
                <p:nvPr/>
              </p:nvSpPr>
              <p:spPr>
                <a:xfrm>
                  <a:off x="7050" y="5124"/>
                  <a:ext cx="990" cy="684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noAutofit/>
                </a:bodyPr>
                <a:p>
                  <a:r>
                    <a:rPr lang="en-US" altLang="zh-CN" sz="750" b="1" kern="100">
                      <a:effectLst>
                        <a:outerShdw sx="0" sy="0">
                          <a:srgbClr val="000000"/>
                        </a:outerShdw>
                      </a:effectLst>
                      <a:latin typeface="Calibri" panose="020F0502020204030204"/>
                      <a:ea typeface="SimSun" panose="02010600030101010101" pitchFamily="2" charset="-122"/>
                      <a:cs typeface="Times New Roman" panose="02020603050405020304" charset="-122"/>
                      <a:sym typeface="Times New Roman" panose="02020603050405020304" charset="-122"/>
                    </a:rPr>
                    <a:t>Staging </a:t>
                  </a:r>
                  <a:endParaRPr lang="en-US" altLang="zh-CN" sz="750" b="1" kern="100">
                    <a:effectLst>
                      <a:outerShdw sx="0" sy="0">
                        <a:srgbClr val="000000"/>
                      </a:outerShdw>
                    </a:effectLst>
                    <a:latin typeface="Calibri" panose="020F0502020204030204"/>
                    <a:ea typeface="SimSun" panose="02010600030101010101" pitchFamily="2" charset="-122"/>
                    <a:cs typeface="Times New Roman" panose="02020603050405020304" charset="-122"/>
                    <a:sym typeface="Times New Roman" panose="02020603050405020304" charset="-122"/>
                  </a:endParaRPr>
                </a:p>
                <a:p>
                  <a:r>
                    <a:rPr lang="en-US" altLang="zh-CN" sz="750" b="1" kern="100">
                      <a:effectLst>
                        <a:outerShdw sx="0" sy="0">
                          <a:srgbClr val="000000"/>
                        </a:outerShdw>
                      </a:effectLst>
                      <a:latin typeface="Calibri" panose="020F0502020204030204"/>
                      <a:ea typeface="SimSun" panose="02010600030101010101" pitchFamily="2" charset="-122"/>
                      <a:cs typeface="Times New Roman" panose="02020603050405020304" charset="-122"/>
                      <a:sym typeface="Times New Roman" panose="02020603050405020304" charset="-122"/>
                    </a:rPr>
                    <a:t>Database </a:t>
                  </a:r>
                  <a:endParaRPr lang="en-US" altLang="zh-CN" sz="750" b="1" kern="100">
                    <a:effectLst>
                      <a:outerShdw sx="0" sy="0">
                        <a:srgbClr val="000000"/>
                      </a:outerShdw>
                    </a:effectLst>
                    <a:latin typeface="Calibri" panose="020F0502020204030204"/>
                    <a:ea typeface="SimSun" panose="02010600030101010101" pitchFamily="2" charset="-122"/>
                    <a:cs typeface="Times New Roman" panose="02020603050405020304" charset="-122"/>
                    <a:sym typeface="Times New Roman" panose="02020603050405020304" charset="-122"/>
                  </a:endParaRPr>
                </a:p>
                <a:p>
                  <a:r>
                    <a:rPr lang="en-US" altLang="zh-CN" sz="750" b="1" kern="100">
                      <a:effectLst>
                        <a:outerShdw sx="0" sy="0">
                          <a:srgbClr val="000000"/>
                        </a:outerShdw>
                      </a:effectLst>
                      <a:latin typeface="Calibri" panose="020F0502020204030204"/>
                      <a:ea typeface="SimSun" panose="02010600030101010101" pitchFamily="2" charset="-122"/>
                      <a:cs typeface="Times New Roman" panose="02020603050405020304" charset="-122"/>
                      <a:sym typeface="Times New Roman" panose="02020603050405020304" charset="-122"/>
                    </a:rPr>
                    <a:t>Tables</a:t>
                  </a:r>
                  <a:endParaRPr lang="en-US" altLang="zh-CN" sz="750" b="1" kern="100">
                    <a:effectLst>
                      <a:outerShdw sx="0" sy="0">
                        <a:srgbClr val="000000"/>
                      </a:outerShdw>
                    </a:effectLst>
                    <a:latin typeface="Calibri" panose="020F0502020204030204"/>
                    <a:ea typeface="SimSun" panose="02010600030101010101" pitchFamily="2" charset="-122"/>
                    <a:cs typeface="Times New Roman" panose="02020603050405020304" charset="-122"/>
                    <a:sym typeface="Times New Roman" panose="02020603050405020304" charset="-122"/>
                  </a:endParaRPr>
                </a:p>
              </p:txBody>
            </p:sp>
            <p:pic>
              <p:nvPicPr>
                <p:cNvPr id="24" name="Picture 2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7917" y="5215"/>
                  <a:ext cx="511" cy="5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26" name="Rectangle: Rounded Corners 7"/>
              <p:cNvSpPr/>
              <p:nvPr/>
            </p:nvSpPr>
            <p:spPr>
              <a:xfrm>
                <a:off x="5622" y="7387"/>
                <a:ext cx="5380" cy="2453"/>
              </a:xfrm>
              <a:prstGeom prst="roundRect">
                <a:avLst>
                  <a:gd name="adj" fmla="val 4888"/>
                </a:avLst>
              </a:prstGeom>
              <a:noFill/>
              <a:ln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</a:gradFill>
              </a:ln>
              <a:effectLst>
                <a:outerShdw blurRad="203200" dist="38100" dir="2700000" sx="97000" sy="97000" algn="tl" rotWithShape="0">
                  <a:prstClr val="black">
                    <a:alpha val="41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pt-PT" altLang="en-US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7" name="Rectangle: Rounded Corners 7"/>
              <p:cNvSpPr/>
              <p:nvPr/>
            </p:nvSpPr>
            <p:spPr>
              <a:xfrm>
                <a:off x="11711" y="7377"/>
                <a:ext cx="5380" cy="2464"/>
              </a:xfrm>
              <a:prstGeom prst="roundRect">
                <a:avLst>
                  <a:gd name="adj" fmla="val 4888"/>
                </a:avLst>
              </a:prstGeom>
              <a:noFill/>
              <a:ln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</a:gradFill>
              </a:ln>
              <a:effectLst>
                <a:outerShdw blurRad="203200" dist="38100" dir="2700000" sx="97000" sy="97000" algn="tl" rotWithShape="0">
                  <a:prstClr val="black">
                    <a:alpha val="41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pt-PT" altLang="en-US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30" name="Group 29"/>
              <p:cNvGrpSpPr/>
              <p:nvPr/>
            </p:nvGrpSpPr>
            <p:grpSpPr>
              <a:xfrm>
                <a:off x="11856" y="8198"/>
                <a:ext cx="1377" cy="684"/>
                <a:chOff x="7060" y="3414"/>
                <a:chExt cx="1377" cy="684"/>
              </a:xfrm>
            </p:grpSpPr>
            <p:sp>
              <p:nvSpPr>
                <p:cNvPr id="28" name="Text Box 413"/>
                <p:cNvSpPr txBox="1"/>
                <p:nvPr/>
              </p:nvSpPr>
              <p:spPr>
                <a:xfrm>
                  <a:off x="7060" y="3414"/>
                  <a:ext cx="990" cy="684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noAutofit/>
                </a:bodyPr>
                <a:p>
                  <a:r>
                    <a:rPr lang="en-US" altLang="zh-CN" sz="750" b="1" kern="100">
                      <a:effectLst>
                        <a:outerShdw sx="0" sy="0">
                          <a:srgbClr val="000000"/>
                        </a:outerShdw>
                      </a:effectLst>
                      <a:latin typeface="Calibri" panose="020F0502020204030204"/>
                      <a:ea typeface="SimSun" panose="02010600030101010101" pitchFamily="2" charset="-122"/>
                      <a:cs typeface="Times New Roman" panose="02020603050405020304" charset="-122"/>
                      <a:sym typeface="Times New Roman" panose="02020603050405020304" charset="-122"/>
                    </a:rPr>
                    <a:t>Final </a:t>
                  </a:r>
                  <a:endParaRPr lang="en-US" altLang="zh-CN" sz="750" b="1" kern="100">
                    <a:effectLst>
                      <a:outerShdw sx="0" sy="0">
                        <a:srgbClr val="000000"/>
                      </a:outerShdw>
                    </a:effectLst>
                    <a:latin typeface="Calibri" panose="020F0502020204030204"/>
                    <a:ea typeface="SimSun" panose="02010600030101010101" pitchFamily="2" charset="-122"/>
                    <a:cs typeface="Times New Roman" panose="02020603050405020304" charset="-122"/>
                    <a:sym typeface="Times New Roman" panose="02020603050405020304" charset="-122"/>
                  </a:endParaRPr>
                </a:p>
                <a:p>
                  <a:r>
                    <a:rPr lang="en-US" altLang="zh-CN" sz="750" b="1" kern="100">
                      <a:effectLst>
                        <a:outerShdw sx="0" sy="0">
                          <a:srgbClr val="000000"/>
                        </a:outerShdw>
                      </a:effectLst>
                      <a:latin typeface="Calibri" panose="020F0502020204030204"/>
                      <a:ea typeface="SimSun" panose="02010600030101010101" pitchFamily="2" charset="-122"/>
                      <a:cs typeface="Times New Roman" panose="02020603050405020304" charset="-122"/>
                      <a:sym typeface="Times New Roman" panose="02020603050405020304" charset="-122"/>
                    </a:rPr>
                    <a:t>Database </a:t>
                  </a:r>
                  <a:endParaRPr lang="en-US" altLang="zh-CN" sz="750" b="1" kern="100">
                    <a:effectLst>
                      <a:outerShdw sx="0" sy="0">
                        <a:srgbClr val="000000"/>
                      </a:outerShdw>
                    </a:effectLst>
                    <a:latin typeface="Calibri" panose="020F0502020204030204"/>
                    <a:ea typeface="SimSun" panose="02010600030101010101" pitchFamily="2" charset="-122"/>
                    <a:cs typeface="Times New Roman" panose="02020603050405020304" charset="-122"/>
                    <a:sym typeface="Times New Roman" panose="02020603050405020304" charset="-122"/>
                  </a:endParaRPr>
                </a:p>
                <a:p>
                  <a:r>
                    <a:rPr lang="en-US" altLang="zh-CN" sz="750" b="1" kern="100">
                      <a:effectLst>
                        <a:outerShdw sx="0" sy="0">
                          <a:srgbClr val="000000"/>
                        </a:outerShdw>
                      </a:effectLst>
                      <a:latin typeface="Calibri" panose="020F0502020204030204"/>
                      <a:ea typeface="SimSun" panose="02010600030101010101" pitchFamily="2" charset="-122"/>
                      <a:cs typeface="Times New Roman" panose="02020603050405020304" charset="-122"/>
                      <a:sym typeface="Times New Roman" panose="02020603050405020304" charset="-122"/>
                    </a:rPr>
                    <a:t>Tables</a:t>
                  </a:r>
                  <a:endParaRPr lang="en-US" altLang="zh-CN" sz="750" b="1" kern="100">
                    <a:effectLst>
                      <a:outerShdw sx="0" sy="0">
                        <a:srgbClr val="000000"/>
                      </a:outerShdw>
                    </a:effectLst>
                    <a:latin typeface="Calibri" panose="020F0502020204030204"/>
                    <a:ea typeface="SimSun" panose="02010600030101010101" pitchFamily="2" charset="-122"/>
                    <a:cs typeface="Times New Roman" panose="02020603050405020304" charset="-122"/>
                    <a:sym typeface="Times New Roman" panose="02020603050405020304" charset="-122"/>
                  </a:endParaRPr>
                </a:p>
              </p:txBody>
            </p:sp>
            <p:pic>
              <p:nvPicPr>
                <p:cNvPr id="29" name="Picture 2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7927" y="3505"/>
                  <a:ext cx="511" cy="5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1" name="Rectangle: Rounded Corners 7"/>
              <p:cNvSpPr/>
              <p:nvPr/>
            </p:nvSpPr>
            <p:spPr>
              <a:xfrm>
                <a:off x="13478" y="8822"/>
                <a:ext cx="2389" cy="608"/>
              </a:xfrm>
              <a:prstGeom prst="roundRect">
                <a:avLst>
                  <a:gd name="adj" fmla="val 4888"/>
                </a:avLst>
              </a:prstGeom>
              <a:solidFill>
                <a:schemeClr val="bg1"/>
              </a:solidFill>
              <a:ln>
                <a:noFill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blurRad="203200" dist="38100" dir="2700000" sx="97000" sy="97000" algn="tl" rotWithShape="0">
                  <a:schemeClr val="tx1">
                    <a:alpha val="41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p>
                <a:pPr algn="ctr"/>
                <a:r>
                  <a:rPr lang="pt-PT" altLang="en-US" sz="12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household_ext</a:t>
                </a:r>
                <a:endParaRPr lang="pt-PT" altLang="en-US" sz="12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8" name="Bent Arrow 438"/>
              <p:cNvSpPr/>
              <p:nvPr/>
            </p:nvSpPr>
            <p:spPr>
              <a:xfrm flipV="1">
                <a:off x="10601" y="9050"/>
                <a:ext cx="2736" cy="16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9" name="Bent Arrow 438"/>
              <p:cNvSpPr/>
              <p:nvPr/>
            </p:nvSpPr>
            <p:spPr>
              <a:xfrm flipV="1">
                <a:off x="9459" y="7927"/>
                <a:ext cx="3888" cy="17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0" name="Bent Arrow 438"/>
              <p:cNvSpPr/>
              <p:nvPr/>
            </p:nvSpPr>
            <p:spPr>
              <a:xfrm rot="16200000" flipV="1">
                <a:off x="8769" y="8021"/>
                <a:ext cx="1080" cy="643"/>
              </a:xfrm>
              <a:prstGeom prst="blockArc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00" name="Text Box 99"/>
          <p:cNvSpPr txBox="1"/>
          <p:nvPr/>
        </p:nvSpPr>
        <p:spPr>
          <a:xfrm>
            <a:off x="68580" y="1062990"/>
            <a:ext cx="11974830" cy="31076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</a:rPr>
              <a:t>The XML data packaged consists of one </a:t>
            </a:r>
            <a:r>
              <a:rPr lang="pt-PT" altLang="en-US" sz="1400" b="1">
                <a:latin typeface="Calibri" panose="020F0502020204030204" pitchFamily="34" charset="0"/>
                <a:ea typeface="SimSun" panose="02010600030101010101" pitchFamily="2" charset="-122"/>
              </a:rPr>
              <a:t>Core Form joined </a:t>
            </a: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</a:rPr>
              <a:t>to another </a:t>
            </a:r>
            <a:r>
              <a:rPr lang="pt-PT" altLang="en-US" sz="1400" b="1">
                <a:latin typeface="Calibri" panose="020F0502020204030204" pitchFamily="34" charset="0"/>
                <a:ea typeface="SimSun" panose="02010600030101010101" pitchFamily="2" charset="-122"/>
              </a:rPr>
              <a:t>Core Form Extension </a:t>
            </a: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</a:rPr>
              <a:t>as a single XML file that are uploaded to the Server app and saved in the </a:t>
            </a:r>
            <a:r>
              <a:rPr lang="pt-PT" altLang="en-US" sz="1400" b="1">
                <a:latin typeface="Calibri" panose="020F0502020204030204" pitchFamily="34" charset="0"/>
                <a:ea typeface="SimSun" panose="02010600030101010101" pitchFamily="2" charset="-122"/>
              </a:rPr>
              <a:t>Staging Database Tables</a:t>
            </a: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</a:rPr>
              <a:t>, after validation this XML is extracted, transformed, transferred to database columns format saved in a </a:t>
            </a:r>
            <a:r>
              <a:rPr lang="pt-PT" altLang="en-US" sz="1400" b="1">
                <a:latin typeface="Calibri" panose="020F0502020204030204" pitchFamily="34" charset="0"/>
                <a:ea typeface="SimSun" panose="02010600030101010101" pitchFamily="2" charset="-122"/>
              </a:rPr>
              <a:t>Final Extension Tables</a:t>
            </a: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</a:rPr>
              <a:t>, these tables names have the suffix “</a:t>
            </a:r>
            <a:r>
              <a:rPr lang="pt-PT" altLang="en-US" sz="1400" b="1">
                <a:latin typeface="Calibri" panose="020F0502020204030204" pitchFamily="34" charset="0"/>
                <a:ea typeface="SimSun" panose="02010600030101010101" pitchFamily="2" charset="-122"/>
              </a:rPr>
              <a:t>_ext”.</a:t>
            </a:r>
            <a:endParaRPr lang="pt-PT" altLang="en-US" sz="1400" b="1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400" b="1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</a:rPr>
              <a:t>The staging tables are composed by table names with the prefix “</a:t>
            </a:r>
            <a:r>
              <a:rPr lang="pt-PT" altLang="en-US" sz="1400" b="1">
                <a:latin typeface="Calibri" panose="020F0502020204030204" pitchFamily="34" charset="0"/>
                <a:ea typeface="SimSun" panose="02010600030101010101" pitchFamily="2" charset="-122"/>
              </a:rPr>
              <a:t>_raw”.</a:t>
            </a:r>
            <a:endParaRPr lang="pt-PT" altLang="en-US" sz="1400" b="1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400" b="1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</a:rPr>
              <a:t>Each staging table has the column </a:t>
            </a:r>
            <a:r>
              <a:rPr lang="pt-PT" altLang="en-US" sz="1400" b="1">
                <a:latin typeface="Calibri" panose="020F0502020204030204" pitchFamily="34" charset="0"/>
                <a:ea typeface="SimSun" panose="02010600030101010101" pitchFamily="2" charset="-122"/>
              </a:rPr>
              <a:t>extension_form(BLOB)</a:t>
            </a: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</a:rPr>
              <a:t> that stores a XML file as a byte array of the collected </a:t>
            </a:r>
            <a:r>
              <a:rPr lang="pt-PT" altLang="en-US" sz="1400" i="1">
                <a:latin typeface="Calibri" panose="020F0502020204030204" pitchFamily="34" charset="0"/>
                <a:ea typeface="SimSun" panose="02010600030101010101" pitchFamily="2" charset="-122"/>
              </a:rPr>
              <a:t>Core Form XML instance</a:t>
            </a:r>
            <a:endParaRPr lang="pt-PT" altLang="en-US" sz="14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4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  <a:sym typeface="+mn-ea"/>
              </a:rPr>
              <a:t>Each staging table has a also the column </a:t>
            </a:r>
            <a:r>
              <a:rPr lang="pt-PT" altLang="en-US" sz="1400" b="1">
                <a:latin typeface="Calibri" panose="020F0502020204030204" pitchFamily="34" charset="0"/>
                <a:ea typeface="SimSun" panose="02010600030101010101" pitchFamily="2" charset="-122"/>
                <a:sym typeface="+mn-ea"/>
              </a:rPr>
              <a:t>processed(</a:t>
            </a: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  <a:sym typeface="+mn-ea"/>
              </a:rPr>
              <a:t>INT), its used by the Data Validation process to report the status of the validation process:</a:t>
            </a:r>
            <a:endParaRPr lang="pt-PT" altLang="en-US" sz="14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4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4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4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4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4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497840" y="3103245"/>
          <a:ext cx="5697220" cy="90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1504950"/>
                <a:gridCol w="3811270"/>
              </a:tblGrid>
              <a:tr h="226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NOT_PROCESSED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not yet validated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SUCCESS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was validated and transferred to final tables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ERROR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has validation errors, and has a record on Error Table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INVALIDATED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was invalidated by the user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>
                <a:sym typeface="+mn-ea"/>
              </a:rPr>
              <a:t>Data Flow Process</a:t>
            </a:r>
            <a:r>
              <a:rPr lang="en-US" altLang="pt-PT" sz="4000" dirty="0">
                <a:sym typeface="+mn-ea"/>
              </a:rPr>
              <a:t> - </a:t>
            </a:r>
            <a:r>
              <a:rPr lang="pt-PT" altLang="en-US" sz="4000" dirty="0">
                <a:sym typeface="+mn-ea"/>
              </a:rPr>
              <a:t>Staging Tables</a:t>
            </a:r>
            <a:endParaRPr lang="pt-PT" altLang="en-GB" sz="4000" dirty="0"/>
          </a:p>
        </p:txBody>
      </p:sp>
      <p:sp>
        <p:nvSpPr>
          <p:cNvPr id="8" name="Rectangle: Rounded Corners 7"/>
          <p:cNvSpPr/>
          <p:nvPr/>
        </p:nvSpPr>
        <p:spPr>
          <a:xfrm>
            <a:off x="822960" y="2540000"/>
            <a:ext cx="11066145" cy="3736975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" name="Text Box 9"/>
          <p:cNvSpPr txBox="1"/>
          <p:nvPr/>
        </p:nvSpPr>
        <p:spPr>
          <a:xfrm>
            <a:off x="912495" y="2660650"/>
            <a:ext cx="65239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PT" sz="1400" b="1" u="sng"/>
              <a:t>Mobile Data (</a:t>
            </a:r>
            <a:r>
              <a:rPr lang="pt-PT" altLang="en-US" sz="1400" b="1" u="sng"/>
              <a:t>XML Content</a:t>
            </a:r>
            <a:r>
              <a:rPr lang="en-US" altLang="pt-PT" sz="1400" b="1" u="sng"/>
              <a:t>)</a:t>
            </a:r>
            <a:r>
              <a:rPr lang="pt-PT" altLang="en-US" sz="1400" b="1" u="sng"/>
              <a:t> to Server Database Tables</a:t>
            </a:r>
            <a:endParaRPr lang="pt-PT" altLang="en-US" sz="1400" b="1" u="sng"/>
          </a:p>
        </p:txBody>
      </p:sp>
      <p:sp>
        <p:nvSpPr>
          <p:cNvPr id="16" name="Rectangle: Rounded Corners 7"/>
          <p:cNvSpPr/>
          <p:nvPr/>
        </p:nvSpPr>
        <p:spPr>
          <a:xfrm>
            <a:off x="1461770" y="4779010"/>
            <a:ext cx="1545590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Core Form Data</a:t>
            </a: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Extension Form Data</a:t>
            </a:r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: Rounded Corners 7"/>
          <p:cNvSpPr/>
          <p:nvPr/>
        </p:nvSpPr>
        <p:spPr>
          <a:xfrm>
            <a:off x="4674235" y="4792980"/>
            <a:ext cx="2195830" cy="134239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pt-PT" altLang="en-US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raw_household</a:t>
            </a: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id</a:t>
            </a: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other fields</a:t>
            </a:r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.........</a:t>
            </a: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pt-PT" altLang="en-US" sz="12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extension_form</a:t>
            </a:r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(xml blob)</a:t>
            </a:r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pt-PT" altLang="en-US" sz="12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processed</a:t>
            </a:r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(INT flag)</a:t>
            </a:r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ctangle: Rounded Corners 7"/>
          <p:cNvSpPr/>
          <p:nvPr/>
        </p:nvSpPr>
        <p:spPr>
          <a:xfrm>
            <a:off x="8554085" y="4848225"/>
            <a:ext cx="1517015" cy="38608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203200" dist="38100" dir="2700000" sx="97000" sy="97000" algn="tl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pt-PT" altLang="en-US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household</a:t>
            </a:r>
            <a:endParaRPr lang="pt-PT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3209290" y="5302250"/>
            <a:ext cx="274320" cy="153035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>
            <a:off x="7073265" y="5328920"/>
            <a:ext cx="274320" cy="153035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1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25" y="5207635"/>
            <a:ext cx="2514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Rectangle: Rounded Corners 7"/>
          <p:cNvSpPr/>
          <p:nvPr/>
        </p:nvSpPr>
        <p:spPr>
          <a:xfrm>
            <a:off x="1033145" y="4638675"/>
            <a:ext cx="2086610" cy="1569085"/>
          </a:xfrm>
          <a:prstGeom prst="roundRect">
            <a:avLst>
              <a:gd name="adj" fmla="val 4888"/>
            </a:avLst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5" name="Group 24"/>
          <p:cNvGrpSpPr/>
          <p:nvPr/>
        </p:nvGrpSpPr>
        <p:grpSpPr>
          <a:xfrm rot="0">
            <a:off x="3678555" y="5153025"/>
            <a:ext cx="875030" cy="434340"/>
            <a:chOff x="7050" y="5124"/>
            <a:chExt cx="1378" cy="684"/>
          </a:xfrm>
        </p:grpSpPr>
        <p:sp>
          <p:nvSpPr>
            <p:cNvPr id="23" name="Text Box 413"/>
            <p:cNvSpPr txBox="1"/>
            <p:nvPr/>
          </p:nvSpPr>
          <p:spPr>
            <a:xfrm>
              <a:off x="7050" y="5124"/>
              <a:ext cx="990" cy="684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Staging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Database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Tables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pic>
          <p:nvPicPr>
            <p:cNvPr id="24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17" y="5215"/>
              <a:ext cx="511" cy="5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Rectangle: Rounded Corners 7"/>
          <p:cNvSpPr/>
          <p:nvPr/>
        </p:nvSpPr>
        <p:spPr>
          <a:xfrm>
            <a:off x="3569970" y="3088640"/>
            <a:ext cx="3416300" cy="3119120"/>
          </a:xfrm>
          <a:prstGeom prst="roundRect">
            <a:avLst>
              <a:gd name="adj" fmla="val 4888"/>
            </a:avLst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ectangle: Rounded Corners 7"/>
          <p:cNvSpPr/>
          <p:nvPr/>
        </p:nvSpPr>
        <p:spPr>
          <a:xfrm>
            <a:off x="7436485" y="4643755"/>
            <a:ext cx="3416300" cy="1564640"/>
          </a:xfrm>
          <a:prstGeom prst="roundRect">
            <a:avLst>
              <a:gd name="adj" fmla="val 4888"/>
            </a:avLst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0" name="Group 29"/>
          <p:cNvGrpSpPr/>
          <p:nvPr/>
        </p:nvGrpSpPr>
        <p:grpSpPr>
          <a:xfrm rot="0">
            <a:off x="7528560" y="5165090"/>
            <a:ext cx="874395" cy="434340"/>
            <a:chOff x="7060" y="3414"/>
            <a:chExt cx="1377" cy="684"/>
          </a:xfrm>
        </p:grpSpPr>
        <p:sp>
          <p:nvSpPr>
            <p:cNvPr id="28" name="Text Box 413"/>
            <p:cNvSpPr txBox="1"/>
            <p:nvPr/>
          </p:nvSpPr>
          <p:spPr>
            <a:xfrm>
              <a:off x="7060" y="3414"/>
              <a:ext cx="990" cy="68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Final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Database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Tables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pic>
          <p:nvPicPr>
            <p:cNvPr id="29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27" y="3505"/>
              <a:ext cx="511" cy="5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Rectangle: Rounded Corners 7"/>
          <p:cNvSpPr/>
          <p:nvPr/>
        </p:nvSpPr>
        <p:spPr>
          <a:xfrm>
            <a:off x="8558530" y="5561330"/>
            <a:ext cx="1517015" cy="38608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203200" dist="38100" dir="2700000" sx="97000" sy="97000" algn="tl" rotWithShape="0">
              <a:schemeClr val="tx1"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pt-PT" altLang="en-US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household_ext</a:t>
            </a:r>
            <a:endParaRPr lang="pt-PT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Bent Arrow 438"/>
          <p:cNvSpPr/>
          <p:nvPr/>
        </p:nvSpPr>
        <p:spPr>
          <a:xfrm flipV="1">
            <a:off x="6731635" y="5706110"/>
            <a:ext cx="1737360" cy="1066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" name="Bent Arrow 438"/>
          <p:cNvSpPr/>
          <p:nvPr/>
        </p:nvSpPr>
        <p:spPr>
          <a:xfrm flipV="1">
            <a:off x="6006465" y="4993005"/>
            <a:ext cx="2468880" cy="10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" name="Bent Arrow 438"/>
          <p:cNvSpPr/>
          <p:nvPr/>
        </p:nvSpPr>
        <p:spPr>
          <a:xfrm rot="16200000" flipV="1">
            <a:off x="5568315" y="5052695"/>
            <a:ext cx="685800" cy="408305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0" name="Text Box 99"/>
          <p:cNvSpPr txBox="1"/>
          <p:nvPr/>
        </p:nvSpPr>
        <p:spPr>
          <a:xfrm>
            <a:off x="68580" y="1062990"/>
            <a:ext cx="1013460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</a:rPr>
              <a:t>When </a:t>
            </a:r>
            <a:r>
              <a:rPr lang="pt-PT" altLang="en-US" sz="1400" b="1" i="1">
                <a:latin typeface="Calibri" panose="020F0502020204030204" pitchFamily="34" charset="0"/>
                <a:ea typeface="SimSun" panose="02010600030101010101" pitchFamily="2" charset="-122"/>
              </a:rPr>
              <a:t>Data Validation and Transfer</a:t>
            </a: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</a:rPr>
              <a:t> process is executed the data stored on Staging Database Tables are evaluated through a rigorous process to ensure data consistency.</a:t>
            </a:r>
            <a:endParaRPr lang="pt-PT" altLang="en-US" sz="14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4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After the validation the </a:t>
            </a:r>
            <a:r>
              <a:rPr lang="pt-PT" altLang="en-US" sz="1400" b="1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processed </a:t>
            </a: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column will received either value </a:t>
            </a:r>
            <a:r>
              <a:rPr lang="pt-PT" altLang="en-US" sz="1400" b="1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1(SUCCESS) </a:t>
            </a: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or </a:t>
            </a:r>
            <a:r>
              <a:rPr lang="pt-PT" altLang="en-US" sz="1400" b="1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2(ERROR)</a:t>
            </a:r>
            <a:endParaRPr lang="pt-PT" altLang="en-US" sz="1400" b="1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400" b="1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When a validation error occurs another record is created on </a:t>
            </a:r>
            <a:r>
              <a:rPr lang="pt-PT" altLang="en-US" sz="1400" b="1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_raw_error_log </a:t>
            </a:r>
            <a:r>
              <a:rPr lang="pt-PT" altLang="en-US" sz="14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table containing the error details</a:t>
            </a:r>
            <a:endParaRPr lang="pt-PT" altLang="en-US" sz="14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</p:txBody>
      </p:sp>
      <p:sp>
        <p:nvSpPr>
          <p:cNvPr id="6" name="Rectangle: Rounded Corners 7"/>
          <p:cNvSpPr/>
          <p:nvPr/>
        </p:nvSpPr>
        <p:spPr>
          <a:xfrm>
            <a:off x="5163820" y="3561080"/>
            <a:ext cx="1567815" cy="108331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pt-PT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pt-PT" altLang="en-US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_raw_error_log</a:t>
            </a: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uuid</a:t>
            </a: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entity</a:t>
            </a:r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code</a:t>
            </a: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pt-PT" altLang="en-US" sz="12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message</a:t>
            </a:r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(TEXT)</a:t>
            </a:r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" name="Elbow Connector 8"/>
          <p:cNvCxnSpPr>
            <a:endCxn id="6" idx="3"/>
          </p:cNvCxnSpPr>
          <p:nvPr/>
        </p:nvCxnSpPr>
        <p:spPr>
          <a:xfrm rot="16200000" flipV="1">
            <a:off x="6318250" y="4515485"/>
            <a:ext cx="1256665" cy="431165"/>
          </a:xfrm>
          <a:prstGeom prst="bentConnector2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7744460" y="2903855"/>
            <a:ext cx="2799715" cy="645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pt-PT" altLang="en-US" sz="1200"/>
              <a:t>An error message is logged by the system when a data validation error occurs</a:t>
            </a:r>
            <a:endParaRPr lang="pt-PT" altLang="en-US" sz="1200"/>
          </a:p>
        </p:txBody>
      </p:sp>
      <p:cxnSp>
        <p:nvCxnSpPr>
          <p:cNvPr id="12" name="Straight Arrow Connector 11"/>
          <p:cNvCxnSpPr>
            <a:stCxn id="11" idx="1"/>
          </p:cNvCxnSpPr>
          <p:nvPr/>
        </p:nvCxnSpPr>
        <p:spPr>
          <a:xfrm flipH="1">
            <a:off x="7204075" y="3226435"/>
            <a:ext cx="540385" cy="866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/>
              <a:t>Data Flow Database - Staging Tables</a:t>
            </a:r>
            <a:endParaRPr lang="pt-PT" altLang="en-GB" sz="4000" dirty="0"/>
          </a:p>
        </p:txBody>
      </p:sp>
      <p:grpSp>
        <p:nvGrpSpPr>
          <p:cNvPr id="5" name="Group 53"/>
          <p:cNvGrpSpPr/>
          <p:nvPr/>
        </p:nvGrpSpPr>
        <p:grpSpPr>
          <a:xfrm>
            <a:off x="3799840" y="1173480"/>
            <a:ext cx="8016240" cy="4378960"/>
            <a:chOff x="3419" y="961076"/>
            <a:chExt cx="8102" cy="4534"/>
          </a:xfrm>
        </p:grpSpPr>
        <p:sp>
          <p:nvSpPr>
            <p:cNvPr id="6" name="Rounded Rectangle 57"/>
            <p:cNvSpPr/>
            <p:nvPr/>
          </p:nvSpPr>
          <p:spPr>
            <a:xfrm>
              <a:off x="3419" y="961076"/>
              <a:ext cx="8103" cy="4534"/>
            </a:xfrm>
            <a:prstGeom prst="round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7" name="Group 528"/>
            <p:cNvGrpSpPr/>
            <p:nvPr/>
          </p:nvGrpSpPr>
          <p:grpSpPr>
            <a:xfrm>
              <a:off x="3976" y="961219"/>
              <a:ext cx="6980" cy="4198"/>
              <a:chOff x="2813" y="978362"/>
              <a:chExt cx="6980" cy="4198"/>
            </a:xfrm>
          </p:grpSpPr>
          <p:sp>
            <p:nvSpPr>
              <p:cNvPr id="9" name="Text Box 5"/>
              <p:cNvSpPr txBox="1"/>
              <p:nvPr/>
            </p:nvSpPr>
            <p:spPr>
              <a:xfrm>
                <a:off x="3498" y="978424"/>
                <a:ext cx="1831" cy="39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algn="l" eaLnBrk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00" b="1" u="sng" kern="1200">
                    <a:solidFill>
                      <a:srgbClr val="000000"/>
                    </a:solidFill>
                    <a:latin typeface="Calibri" panose="020F0502020204030204"/>
                    <a:ea typeface="SimSun" panose="02010600030101010101" pitchFamily="2" charset="-122"/>
                    <a:cs typeface="Times New Roman" panose="02020603050405020304" charset="-122"/>
                    <a:sym typeface="Times New Roman" panose="02020603050405020304" charset="-122"/>
                  </a:rPr>
                  <a:t>Server Application</a:t>
                </a:r>
                <a:endParaRPr lang="en-US" altLang="zh-CN" sz="900" kern="0">
                  <a:latin typeface="Times New Roman" panose="02020603050405020304" charset="-122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endParaRPr>
              </a:p>
            </p:txBody>
          </p:sp>
          <p:grpSp>
            <p:nvGrpSpPr>
              <p:cNvPr id="11" name="Group 525"/>
              <p:cNvGrpSpPr>
                <a:grpSpLocks noChangeAspect="1"/>
              </p:cNvGrpSpPr>
              <p:nvPr/>
            </p:nvGrpSpPr>
            <p:grpSpPr>
              <a:xfrm rot="0">
                <a:off x="2813" y="978362"/>
                <a:ext cx="6980" cy="4198"/>
                <a:chOff x="2186" y="978450"/>
                <a:chExt cx="8154" cy="4904"/>
              </a:xfrm>
            </p:grpSpPr>
            <p:grpSp>
              <p:nvGrpSpPr>
                <p:cNvPr id="12" name="Group 424"/>
                <p:cNvGrpSpPr/>
                <p:nvPr/>
              </p:nvGrpSpPr>
              <p:grpSpPr>
                <a:xfrm rot="0">
                  <a:off x="2186" y="978450"/>
                  <a:ext cx="8154" cy="4893"/>
                  <a:chOff x="1800" y="935029"/>
                  <a:chExt cx="8154" cy="4893"/>
                </a:xfrm>
              </p:grpSpPr>
              <p:sp>
                <p:nvSpPr>
                  <p:cNvPr id="13" name="Rectangle: Rounded Corners 7"/>
                  <p:cNvSpPr/>
                  <p:nvPr/>
                </p:nvSpPr>
                <p:spPr>
                  <a:xfrm>
                    <a:off x="1800" y="935507"/>
                    <a:ext cx="8154" cy="4415"/>
                  </a:xfrm>
                  <a:prstGeom prst="roundRect">
                    <a:avLst>
                      <a:gd name="adj" fmla="val 4888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203200" dist="38100" dir="2700000" sx="97000" sy="97000" algn="tl" rotWithShape="0">
                      <a:prstClr val="black">
                        <a:alpha val="41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zh-CN" sz="1050" kern="100">
                        <a:latin typeface="Calibri" panose="020F0502020204030204"/>
                        <a:ea typeface="SimSun" panose="02010600030101010101" pitchFamily="2" charset="-122"/>
                        <a:cs typeface="Times New Roman" panose="02020603050405020304" charset="-122"/>
                        <a:sym typeface="Times New Roman" panose="02020603050405020304" charset="-122"/>
                      </a:rPr>
                      <a:t> </a:t>
                    </a:r>
                    <a:endParaRPr lang="en-US" altLang="zh-CN" sz="1050" kern="100">
                      <a:latin typeface="Calibri" panose="020F0502020204030204"/>
                      <a:ea typeface="SimSun" panose="02010600030101010101" pitchFamily="2" charset="-122"/>
                      <a:cs typeface="Times New Roman" panose="02020603050405020304" charset="-122"/>
                      <a:sym typeface="Times New Roman" panose="02020603050405020304" charset="-122"/>
                    </a:endParaRPr>
                  </a:p>
                </p:txBody>
              </p:sp>
              <p:pic>
                <p:nvPicPr>
                  <p:cNvPr id="14" name="Picture 49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>
                    <a:off x="1939" y="935029"/>
                    <a:ext cx="802" cy="91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" name="Group 522"/>
                <p:cNvGrpSpPr/>
                <p:nvPr/>
              </p:nvGrpSpPr>
              <p:grpSpPr>
                <a:xfrm>
                  <a:off x="7347" y="979526"/>
                  <a:ext cx="2228" cy="3828"/>
                  <a:chOff x="7347" y="979526"/>
                  <a:chExt cx="2228" cy="3828"/>
                </a:xfrm>
              </p:grpSpPr>
              <p:grpSp>
                <p:nvGrpSpPr>
                  <p:cNvPr id="32" name="Group 521"/>
                  <p:cNvGrpSpPr/>
                  <p:nvPr/>
                </p:nvGrpSpPr>
                <p:grpSpPr>
                  <a:xfrm>
                    <a:off x="7743" y="979732"/>
                    <a:ext cx="1832" cy="3622"/>
                    <a:chOff x="7743" y="979732"/>
                    <a:chExt cx="1832" cy="3622"/>
                  </a:xfrm>
                </p:grpSpPr>
                <p:pic>
                  <p:nvPicPr>
                    <p:cNvPr id="33" name="Picture 12"/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7743" y="980114"/>
                      <a:ext cx="1832" cy="32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34" name="Text Box 413"/>
                    <p:cNvSpPr txBox="1"/>
                    <p:nvPr/>
                  </p:nvSpPr>
                  <p:spPr>
                    <a:xfrm>
                      <a:off x="7745" y="979732"/>
                      <a:ext cx="1819" cy="374"/>
                    </a:xfrm>
                    <a:prstGeom prst="rect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<a:noAutofit/>
                    </a:bodyPr>
                    <a:lstStyle/>
                    <a:p>
                      <a:r>
                        <a:rPr lang="en-US" altLang="zh-CN" sz="950" b="1" kern="100">
                          <a:effectLst>
                            <a:outerShdw sx="0" sy="0">
                              <a:srgbClr val="000000"/>
                            </a:outerShdw>
                          </a:effectLst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rPr>
                        <a:t>Final Database Tables</a:t>
                      </a:r>
                      <a:endParaRPr lang="en-US" altLang="zh-CN" sz="950" b="1" kern="100">
                        <a:effectLst>
                          <a:outerShdw sx="0" sy="0">
                            <a:srgbClr val="000000"/>
                          </a:outerShdw>
                        </a:effectLst>
                        <a:latin typeface="Calibri" panose="020F0502020204030204"/>
                        <a:ea typeface="SimSun" panose="02010600030101010101" pitchFamily="2" charset="-122"/>
                        <a:cs typeface="Times New Roman" panose="02020603050405020304" charset="-122"/>
                        <a:sym typeface="Times New Roman" panose="02020603050405020304" charset="-122"/>
                      </a:endParaRPr>
                    </a:p>
                  </p:txBody>
                </p:sp>
              </p:grpSp>
              <p:pic>
                <p:nvPicPr>
                  <p:cNvPr id="35" name="Picture 2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347" y="979526"/>
                    <a:ext cx="511" cy="57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6" name="Group 512"/>
                <p:cNvGrpSpPr/>
                <p:nvPr/>
              </p:nvGrpSpPr>
              <p:grpSpPr>
                <a:xfrm rot="0">
                  <a:off x="5019" y="979045"/>
                  <a:ext cx="2315" cy="874"/>
                  <a:chOff x="5030" y="979331"/>
                  <a:chExt cx="2315" cy="874"/>
                </a:xfrm>
              </p:grpSpPr>
              <p:sp>
                <p:nvSpPr>
                  <p:cNvPr id="37" name="Left Arrow 54"/>
                  <p:cNvSpPr/>
                  <p:nvPr/>
                </p:nvSpPr>
                <p:spPr>
                  <a:xfrm rot="10800000">
                    <a:off x="5058" y="980027"/>
                    <a:ext cx="2287" cy="178"/>
                  </a:xfrm>
                  <a:prstGeom prst="leftArrow">
                    <a:avLst>
                      <a:gd name="adj1" fmla="val 50000"/>
                      <a:gd name="adj2" fmla="val 90277"/>
                    </a:avLst>
                  </a:prstGeom>
                </p:spPr>
                <p:style>
                  <a:lnRef idx="2">
                    <a:schemeClr val="accent4">
                      <a:shade val="50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38" name="Rounded Rectangle 427"/>
                  <p:cNvSpPr/>
                  <p:nvPr/>
                </p:nvSpPr>
                <p:spPr>
                  <a:xfrm>
                    <a:off x="5030" y="979331"/>
                    <a:ext cx="2259" cy="424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r>
                      <a:rPr lang="en-US" altLang="zh-CN" sz="1050" b="1" kern="100">
                        <a:latin typeface="Calibri" panose="020F0502020204030204"/>
                        <a:ea typeface="SimSun" panose="02010600030101010101" pitchFamily="2" charset="-122"/>
                        <a:cs typeface="Times New Roman" panose="02020603050405020304" charset="-122"/>
                        <a:sym typeface="Times New Roman" panose="02020603050405020304" charset="-122"/>
                      </a:rPr>
                      <a:t>Data Validation &amp; Transfer</a:t>
                    </a:r>
                    <a:endParaRPr lang="en-US" altLang="zh-CN" sz="1050" b="1" kern="100">
                      <a:latin typeface="Calibri" panose="020F0502020204030204"/>
                      <a:ea typeface="SimSun" panose="02010600030101010101" pitchFamily="2" charset="-122"/>
                      <a:cs typeface="Times New Roman" panose="02020603050405020304" charset="-122"/>
                      <a:sym typeface="Times New Roman" panose="02020603050405020304" charset="-122"/>
                    </a:endParaRPr>
                  </a:p>
                </p:txBody>
              </p:sp>
              <p:sp>
                <p:nvSpPr>
                  <p:cNvPr id="39" name="Left Arrow 54"/>
                  <p:cNvSpPr/>
                  <p:nvPr/>
                </p:nvSpPr>
                <p:spPr>
                  <a:xfrm rot="5400000">
                    <a:off x="6031" y="979862"/>
                    <a:ext cx="279" cy="120"/>
                  </a:xfrm>
                  <a:prstGeom prst="leftArrow">
                    <a:avLst/>
                  </a:prstGeom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</p:sp>
            </p:grpSp>
            <p:grpSp>
              <p:nvGrpSpPr>
                <p:cNvPr id="40" name="Group 524"/>
                <p:cNvGrpSpPr/>
                <p:nvPr/>
              </p:nvGrpSpPr>
              <p:grpSpPr>
                <a:xfrm>
                  <a:off x="2851" y="979528"/>
                  <a:ext cx="2195" cy="3813"/>
                  <a:chOff x="2851" y="979528"/>
                  <a:chExt cx="2195" cy="3813"/>
                </a:xfrm>
              </p:grpSpPr>
              <p:grpSp>
                <p:nvGrpSpPr>
                  <p:cNvPr id="41" name="Group 523"/>
                  <p:cNvGrpSpPr/>
                  <p:nvPr/>
                </p:nvGrpSpPr>
                <p:grpSpPr>
                  <a:xfrm>
                    <a:off x="2851" y="979745"/>
                    <a:ext cx="2195" cy="3596"/>
                    <a:chOff x="2851" y="979745"/>
                    <a:chExt cx="2195" cy="3596"/>
                  </a:xfrm>
                </p:grpSpPr>
                <p:pic>
                  <p:nvPicPr>
                    <p:cNvPr id="42" name="Picture 11"/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2851" y="980101"/>
                      <a:ext cx="1832" cy="32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43" name="Text Box 413"/>
                    <p:cNvSpPr txBox="1"/>
                    <p:nvPr/>
                  </p:nvSpPr>
                  <p:spPr>
                    <a:xfrm>
                      <a:off x="2852" y="979745"/>
                      <a:ext cx="2194" cy="362"/>
                    </a:xfrm>
                    <a:prstGeom prst="rect">
                      <a:avLst/>
                    </a:prstGeom>
                  </p:spPr>
                  <p:style>
                    <a:lnRef idx="1">
                      <a:schemeClr val="dk1"/>
                    </a:lnRef>
                    <a:fillRef idx="2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<a:noAutofit/>
                    </a:bodyPr>
                    <a:lstStyle/>
                    <a:p>
                      <a:r>
                        <a:rPr lang="en-US" altLang="zh-CN" sz="900" b="1" kern="100">
                          <a:effectLst>
                            <a:outerShdw sx="0" sy="0">
                              <a:srgbClr val="000000"/>
                            </a:outerShdw>
                          </a:effectLst>
                          <a:latin typeface="Calibri" panose="020F0502020204030204"/>
                          <a:ea typeface="SimSun" panose="02010600030101010101" pitchFamily="2" charset="-122"/>
                          <a:cs typeface="Times New Roman" panose="02020603050405020304" charset="-122"/>
                          <a:sym typeface="Times New Roman" panose="02020603050405020304" charset="-122"/>
                        </a:rPr>
                        <a:t>Staging Database Tables</a:t>
                      </a:r>
                      <a:endParaRPr lang="en-US" altLang="zh-CN" sz="900" b="1" kern="100">
                        <a:effectLst>
                          <a:outerShdw sx="0" sy="0">
                            <a:srgbClr val="000000"/>
                          </a:outerShdw>
                        </a:effectLst>
                        <a:latin typeface="Calibri" panose="020F0502020204030204"/>
                        <a:ea typeface="SimSun" panose="02010600030101010101" pitchFamily="2" charset="-122"/>
                        <a:cs typeface="Times New Roman" panose="02020603050405020304" charset="-122"/>
                        <a:sym typeface="Times New Roman" panose="02020603050405020304" charset="-122"/>
                      </a:endParaRPr>
                    </a:p>
                  </p:txBody>
                </p:sp>
              </p:grpSp>
              <p:pic>
                <p:nvPicPr>
                  <p:cNvPr id="44" name="Picture 2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4525" y="979528"/>
                    <a:ext cx="511" cy="57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</p:grpSp>
      <p:sp>
        <p:nvSpPr>
          <p:cNvPr id="100" name="Text Box 99"/>
          <p:cNvSpPr txBox="1"/>
          <p:nvPr/>
        </p:nvSpPr>
        <p:spPr>
          <a:xfrm>
            <a:off x="68580" y="1367790"/>
            <a:ext cx="3594735" cy="42767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</a:rPr>
              <a:t>The </a:t>
            </a:r>
            <a:r>
              <a:rPr lang="pt-PT" altLang="en-US" sz="1600" b="1" i="1">
                <a:latin typeface="Calibri" panose="020F0502020204030204" pitchFamily="34" charset="0"/>
                <a:ea typeface="SimSun" panose="02010600030101010101" pitchFamily="2" charset="-122"/>
              </a:rPr>
              <a:t>Staging Database Tables </a:t>
            </a: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</a:rPr>
              <a:t> are the storage of all data collected via mobile device.</a:t>
            </a: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After a successfull validation the data on the staging tables are transferred to the one or more equivalent final tables</a:t>
            </a:r>
            <a:endParaRPr lang="pt-PT" altLang="en-US" sz="1600" b="1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600" b="1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All the core forms of HDS-Explorer have one or two staging tables to store the data</a:t>
            </a: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The tables track which User collected the data, the period of data collection, and the upload date of this data</a:t>
            </a: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/>
              <a:t>Data Flow Database - Staging Table Structure</a:t>
            </a:r>
            <a:endParaRPr lang="pt-PT" altLang="en-GB" sz="4000" dirty="0"/>
          </a:p>
        </p:txBody>
      </p:sp>
      <p:sp>
        <p:nvSpPr>
          <p:cNvPr id="100" name="Text Box 99"/>
          <p:cNvSpPr txBox="1"/>
          <p:nvPr/>
        </p:nvSpPr>
        <p:spPr>
          <a:xfrm>
            <a:off x="260985" y="1181100"/>
            <a:ext cx="689737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buFont typeface="Arial" panose="020B0604020202020204" pitchFamily="34" charset="-122"/>
              <a:buNone/>
            </a:pP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</a:rPr>
              <a:t>The general staging tables columns are subdivided in these categories:</a:t>
            </a: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</p:txBody>
      </p:sp>
      <p:sp>
        <p:nvSpPr>
          <p:cNvPr id="3" name="Rectangle: Rounded Corners 7"/>
          <p:cNvSpPr/>
          <p:nvPr/>
        </p:nvSpPr>
        <p:spPr>
          <a:xfrm>
            <a:off x="9433560" y="1113155"/>
            <a:ext cx="2379345" cy="506603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7" name="Group 16"/>
          <p:cNvGrpSpPr/>
          <p:nvPr/>
        </p:nvGrpSpPr>
        <p:grpSpPr>
          <a:xfrm rot="0">
            <a:off x="8380095" y="3364230"/>
            <a:ext cx="874395" cy="434340"/>
            <a:chOff x="6051" y="2707"/>
            <a:chExt cx="1377" cy="684"/>
          </a:xfrm>
        </p:grpSpPr>
        <p:sp>
          <p:nvSpPr>
            <p:cNvPr id="4" name="Text Box 413"/>
            <p:cNvSpPr txBox="1"/>
            <p:nvPr/>
          </p:nvSpPr>
          <p:spPr>
            <a:xfrm>
              <a:off x="6051" y="2707"/>
              <a:ext cx="990" cy="684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Staging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Database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Tables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pic>
          <p:nvPicPr>
            <p:cNvPr id="8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18" y="2798"/>
              <a:ext cx="511" cy="5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Rectangle: Rounded Corners 7"/>
          <p:cNvSpPr/>
          <p:nvPr/>
        </p:nvSpPr>
        <p:spPr>
          <a:xfrm>
            <a:off x="8147685" y="1037590"/>
            <a:ext cx="3784600" cy="5216525"/>
          </a:xfrm>
          <a:prstGeom prst="roundRect">
            <a:avLst>
              <a:gd name="adj" fmla="val 4888"/>
            </a:avLst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6" name="Table 15"/>
          <p:cNvGraphicFramePr/>
          <p:nvPr/>
        </p:nvGraphicFramePr>
        <p:xfrm>
          <a:off x="9548813" y="1221613"/>
          <a:ext cx="2080260" cy="484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715"/>
                <a:gridCol w="804545"/>
              </a:tblGrid>
              <a:tr h="21082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_raw_household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region_code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region_name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household_code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household_name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head_code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head_name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gps_longitude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gps_altitude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gps_latitude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gps_accuracy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endParaRPr lang="pt-PT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modules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extension_form</a:t>
                      </a:r>
                      <a:endParaRPr lang="pt-PT" alt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mediumblob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pre_registered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bit(1)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collected_by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collected_device_id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collected_start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datetime(6)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collected_end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datetime(6)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collected_date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uploaded_date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post_execution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bit(1)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processed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int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/>
        </p:nvGraphicFramePr>
        <p:xfrm>
          <a:off x="265430" y="1567180"/>
          <a:ext cx="7533640" cy="4557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140"/>
                <a:gridCol w="2338705"/>
                <a:gridCol w="3185795"/>
              </a:tblGrid>
              <a:tr h="3765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200"/>
                        <a:t>Category</a:t>
                      </a:r>
                      <a:endParaRPr lang="pt-PT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200"/>
                        <a:t>Table columns</a:t>
                      </a:r>
                      <a:endParaRPr lang="pt-PT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pt-PT" altLang="en-US" sz="1200"/>
                    </a:p>
                  </a:txBody>
                  <a:tcPr/>
                </a:tc>
              </a:tr>
              <a:tr h="528320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 b="0">
                          <a:latin typeface="Calibri" panose="020F0502020204030204" pitchFamily="34" charset="0"/>
                          <a:ea typeface="SimSun" panose="02010600030101010101" pitchFamily="2" charset="-122"/>
                          <a:sym typeface="+mn-ea"/>
                        </a:rPr>
                        <a:t>Record Identifier</a:t>
                      </a:r>
                      <a:endParaRPr lang="pt-PT" altLang="en-US" sz="1200" b="0">
                        <a:latin typeface="Calibri" panose="020F0502020204030204" pitchFamily="34" charset="0"/>
                        <a:ea typeface="SimSun" panose="02010600030101010101" pitchFamily="2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/>
                        <a:t>id</a:t>
                      </a:r>
                      <a:endParaRPr lang="pt-PT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/>
                        <a:t>Unique UUID generated on the mobile device at form instance creation</a:t>
                      </a:r>
                      <a:endParaRPr lang="pt-PT" altLang="en-US" sz="1200"/>
                    </a:p>
                  </a:txBody>
                  <a:tcPr anchor="ctr" anchorCtr="0"/>
                </a:tc>
              </a:tr>
              <a:tr h="1395730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/>
                        <a:t>HDSS Event Data fields</a:t>
                      </a:r>
                      <a:endParaRPr lang="pt-PT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region_code, region_name, household_code, household_name, head_code, head_name, gps_longitude, gps_altitude, gps_latitude, gps_accuracy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</a:tr>
              <a:tr h="528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pt-PT" sz="1200"/>
                        <a:t>HDS </a:t>
                      </a:r>
                      <a:r>
                        <a:rPr lang="pt-PT" altLang="en-US" sz="1200"/>
                        <a:t>Form Content storage</a:t>
                      </a:r>
                      <a:endParaRPr lang="pt-PT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extension_form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These fields handle storage of extended form content</a:t>
                      </a:r>
                      <a:endParaRPr lang="en-US" sz="1200"/>
                    </a:p>
                  </a:txBody>
                  <a:tcPr anchor="ctr" anchorCtr="0"/>
                </a:tc>
              </a:tr>
              <a:tr h="1199515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/>
                        <a:t>Mobile data collection metadata</a:t>
                      </a:r>
                      <a:endParaRPr lang="pt-PT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collected_by, collected_device_id, collected_start, collected_end, collected_date, uploaded_date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These fields capture metadata related specifically to mobile data collection</a:t>
                      </a:r>
                      <a:endParaRPr lang="en-US" sz="1200"/>
                    </a:p>
                  </a:txBody>
                  <a:tcPr anchor="ctr" anchorCtr="0"/>
                </a:tc>
              </a:tr>
              <a:tr h="528955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/>
                        <a:t>Data Processing Workflow</a:t>
                      </a:r>
                      <a:endParaRPr lang="pt-PT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/>
                        <a:t>processed</a:t>
                      </a:r>
                      <a:endParaRPr lang="pt-PT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This field handles workflow management and status tracking</a:t>
                      </a:r>
                      <a:endParaRPr lang="en-US" sz="12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/>
              <a:t>Data Flow Database - Staging Table Structure</a:t>
            </a:r>
            <a:endParaRPr lang="pt-PT" altLang="en-GB" sz="4000" dirty="0"/>
          </a:p>
        </p:txBody>
      </p:sp>
      <p:sp>
        <p:nvSpPr>
          <p:cNvPr id="3" name="Rectangle: Rounded Corners 7"/>
          <p:cNvSpPr/>
          <p:nvPr/>
        </p:nvSpPr>
        <p:spPr>
          <a:xfrm>
            <a:off x="2245360" y="1143000"/>
            <a:ext cx="7154545" cy="5005705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7" name="Group 16"/>
          <p:cNvGrpSpPr/>
          <p:nvPr/>
        </p:nvGrpSpPr>
        <p:grpSpPr>
          <a:xfrm rot="0">
            <a:off x="593090" y="3348355"/>
            <a:ext cx="874395" cy="434340"/>
            <a:chOff x="6051" y="2707"/>
            <a:chExt cx="1377" cy="684"/>
          </a:xfrm>
        </p:grpSpPr>
        <p:sp>
          <p:nvSpPr>
            <p:cNvPr id="4" name="Text Box 413"/>
            <p:cNvSpPr txBox="1"/>
            <p:nvPr/>
          </p:nvSpPr>
          <p:spPr>
            <a:xfrm>
              <a:off x="6051" y="2707"/>
              <a:ext cx="990" cy="684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Staging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Database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Tables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pic>
          <p:nvPicPr>
            <p:cNvPr id="8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18" y="2798"/>
              <a:ext cx="511" cy="5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Rectangle: Rounded Corners 7"/>
          <p:cNvSpPr/>
          <p:nvPr/>
        </p:nvSpPr>
        <p:spPr>
          <a:xfrm>
            <a:off x="198120" y="1037590"/>
            <a:ext cx="11835130" cy="5216525"/>
          </a:xfrm>
          <a:prstGeom prst="roundRect">
            <a:avLst>
              <a:gd name="adj" fmla="val 4888"/>
            </a:avLst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2385695" y="1259205"/>
          <a:ext cx="6925945" cy="484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675"/>
                <a:gridCol w="901065"/>
                <a:gridCol w="4688205"/>
              </a:tblGrid>
              <a:tr h="21082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_raw_household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Unique UUID generated on the mobile device at form instance creation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region_code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region_name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household_code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household_name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head_code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head_name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gps_longitude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gps_altitude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gps_latitude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gps_accuracy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endParaRPr lang="pt-PT" alt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modules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extension_form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mediumblob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Blob field storing HDS Form Extension Instance XML content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pre_registered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bit(1)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collected_by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Human-readable user code (user.code) who collected the data via mobile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collected_device_id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Device ID of the mobile device used for collection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collected_start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datetime(6)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Timestamp when data collection started on the device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collected_end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datetime(6)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Timestamp when data collection ended on the device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collected_date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 the data was collected on the mobile device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uploaded_date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 the data was uploaded from the mobile device to the server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post_execution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bit(1)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processed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int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Status of the record within the data validation and transfer processes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/>
              <a:t>Data Flow Database - Final Table Structure</a:t>
            </a:r>
            <a:endParaRPr lang="pt-PT" altLang="en-GB" sz="4000" dirty="0"/>
          </a:p>
        </p:txBody>
      </p:sp>
      <p:sp>
        <p:nvSpPr>
          <p:cNvPr id="100" name="Text Box 99"/>
          <p:cNvSpPr txBox="1"/>
          <p:nvPr/>
        </p:nvSpPr>
        <p:spPr>
          <a:xfrm>
            <a:off x="260985" y="1181100"/>
            <a:ext cx="689737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buFont typeface="Arial" panose="020B0604020202020204" pitchFamily="34" charset="-122"/>
              <a:buNone/>
            </a:pP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</a:rPr>
              <a:t>The general staging tables columns are subdivided in these categories:</a:t>
            </a: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</p:txBody>
      </p:sp>
      <p:sp>
        <p:nvSpPr>
          <p:cNvPr id="3" name="Rectangle: Rounded Corners 7"/>
          <p:cNvSpPr/>
          <p:nvPr/>
        </p:nvSpPr>
        <p:spPr>
          <a:xfrm>
            <a:off x="9433560" y="1113155"/>
            <a:ext cx="2379345" cy="5141595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: Rounded Corners 7"/>
          <p:cNvSpPr/>
          <p:nvPr/>
        </p:nvSpPr>
        <p:spPr>
          <a:xfrm>
            <a:off x="8147685" y="1037590"/>
            <a:ext cx="3784600" cy="5217795"/>
          </a:xfrm>
          <a:prstGeom prst="roundRect">
            <a:avLst>
              <a:gd name="adj" fmla="val 4888"/>
            </a:avLst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0" name="Table 19"/>
          <p:cNvGraphicFramePr/>
          <p:nvPr/>
        </p:nvGraphicFramePr>
        <p:xfrm>
          <a:off x="265430" y="1567180"/>
          <a:ext cx="7533640" cy="4557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140"/>
                <a:gridCol w="2338705"/>
                <a:gridCol w="3185795"/>
              </a:tblGrid>
              <a:tr h="3765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200"/>
                        <a:t>Category</a:t>
                      </a:r>
                      <a:endParaRPr lang="pt-PT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200"/>
                        <a:t>Table columns</a:t>
                      </a:r>
                      <a:endParaRPr lang="pt-PT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pt-PT" altLang="en-US" sz="1200"/>
                    </a:p>
                  </a:txBody>
                  <a:tcPr/>
                </a:tc>
              </a:tr>
              <a:tr h="528320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 b="0">
                          <a:latin typeface="Calibri" panose="020F0502020204030204" pitchFamily="34" charset="0"/>
                          <a:ea typeface="SimSun" panose="02010600030101010101" pitchFamily="2" charset="-122"/>
                          <a:sym typeface="+mn-ea"/>
                        </a:rPr>
                        <a:t>Record Identifier</a:t>
                      </a:r>
                      <a:endParaRPr lang="pt-PT" altLang="en-US" sz="1200" b="0">
                        <a:latin typeface="Calibri" panose="020F0502020204030204" pitchFamily="34" charset="0"/>
                        <a:ea typeface="SimSun" panose="02010600030101010101" pitchFamily="2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/>
                        <a:t>id</a:t>
                      </a:r>
                      <a:endParaRPr lang="pt-PT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/>
                        <a:t>Unique UUID generated on the server app at record creation</a:t>
                      </a:r>
                      <a:endParaRPr lang="pt-PT" altLang="en-US" sz="1200"/>
                    </a:p>
                  </a:txBody>
                  <a:tcPr anchor="ctr" anchorCtr="0"/>
                </a:tc>
              </a:tr>
              <a:tr h="1395730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/>
                        <a:t>HDSS Event Data fields</a:t>
                      </a:r>
                      <a:endParaRPr lang="pt-PT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code, region, name, head_code, head_name, region_id, head_id, gps_is_null, gps_accuracy, gps_altitude, gps_latitude, gps_longitude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</a:tr>
              <a:tr h="1199515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/>
                        <a:t>Mobile data collection metadata</a:t>
                      </a:r>
                      <a:endParaRPr lang="pt-PT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collected_uuid, collected_by, collected_device_id, collected_household_id, collected_member_id, collected_start, collected_end, collected_date, uploaded_date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These fields capture metadata related specifically to mobile data collection</a:t>
                      </a:r>
                      <a:endParaRPr lang="en-US" sz="1200"/>
                    </a:p>
                  </a:txBody>
                  <a:tcPr anchor="ctr" anchorCtr="0"/>
                </a:tc>
              </a:tr>
              <a:tr h="528955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200"/>
                        <a:t>Audit Fields</a:t>
                      </a:r>
                      <a:endParaRPr lang="pt-PT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created_by, created_date, updated_by, updated_date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These fields track the creation and modification metadata of records</a:t>
                      </a:r>
                      <a:endParaRPr lang="en-US" sz="1200"/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/>
        </p:nvGraphicFramePr>
        <p:xfrm>
          <a:off x="9701530" y="1180973"/>
          <a:ext cx="2505075" cy="551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080"/>
                <a:gridCol w="596900"/>
              </a:tblGrid>
              <a:tr h="1651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household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tint val="40000"/>
                      </a:schemeClr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id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version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bigint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code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region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name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head_code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head_name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region_id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head_id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gps_is_null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bit(1)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gps_accuracy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double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gps_altitude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double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gps_latitude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double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gps_longitude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double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modules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pre_registered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bit(1)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collected_uuid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collected_by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collected_device_id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collected_household_id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collected_member_id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collected_start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datetime(6)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collected_end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datetime(6)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collected_date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created_by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created_date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updated_by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6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updated_date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8338820" y="3340735"/>
            <a:ext cx="874395" cy="434340"/>
            <a:chOff x="11856" y="8134"/>
            <a:chExt cx="1377" cy="684"/>
          </a:xfrm>
        </p:grpSpPr>
        <p:sp>
          <p:nvSpPr>
            <p:cNvPr id="41" name="Text Box 413"/>
            <p:cNvSpPr txBox="1"/>
            <p:nvPr/>
          </p:nvSpPr>
          <p:spPr>
            <a:xfrm>
              <a:off x="11856" y="8134"/>
              <a:ext cx="990" cy="68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Final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Database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Tables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pic>
          <p:nvPicPr>
            <p:cNvPr id="42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723" y="8225"/>
              <a:ext cx="511" cy="5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/>
              <a:t>Data Flow Database - Final Table Structure</a:t>
            </a:r>
            <a:endParaRPr lang="pt-PT" altLang="en-GB" sz="4000" dirty="0"/>
          </a:p>
        </p:txBody>
      </p:sp>
      <p:sp>
        <p:nvSpPr>
          <p:cNvPr id="10" name="Rectangle: Rounded Corners 7"/>
          <p:cNvSpPr/>
          <p:nvPr/>
        </p:nvSpPr>
        <p:spPr>
          <a:xfrm>
            <a:off x="198120" y="1037590"/>
            <a:ext cx="11835130" cy="5216525"/>
          </a:xfrm>
          <a:prstGeom prst="roundRect">
            <a:avLst>
              <a:gd name="adj" fmla="val 4888"/>
            </a:avLst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12775" y="3310890"/>
            <a:ext cx="874395" cy="434340"/>
            <a:chOff x="11856" y="8134"/>
            <a:chExt cx="1377" cy="684"/>
          </a:xfrm>
        </p:grpSpPr>
        <p:sp>
          <p:nvSpPr>
            <p:cNvPr id="41" name="Text Box 413"/>
            <p:cNvSpPr txBox="1"/>
            <p:nvPr/>
          </p:nvSpPr>
          <p:spPr>
            <a:xfrm>
              <a:off x="11856" y="8134"/>
              <a:ext cx="990" cy="68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Final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Database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Tables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pic>
          <p:nvPicPr>
            <p:cNvPr id="42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723" y="8225"/>
              <a:ext cx="511" cy="576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1" name="Table 10"/>
          <p:cNvGraphicFramePr/>
          <p:nvPr/>
        </p:nvGraphicFramePr>
        <p:xfrm>
          <a:off x="3511233" y="1065403"/>
          <a:ext cx="7229475" cy="497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935"/>
                <a:gridCol w="660400"/>
                <a:gridCol w="3378200"/>
              </a:tblGrid>
              <a:tr h="161925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household</a:t>
                      </a:r>
                      <a:endParaRPr 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Unique UUID generated on the server app at record creation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version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bigint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code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region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name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head_code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head_name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region_id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head_id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hierarchy1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gps_is_null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bit(1)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gps_accuracy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double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gps_altitude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double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gps_latitude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double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gps_longitude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double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collected_uuid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Unique UUID generated on the mobile device at form instance creation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collected_by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Human-readable user code (user.code) who collected the data via </a:t>
                      </a: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mobile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collected_device_id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Device ID of the mobile device used for collection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collected_household_id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UUID linking the record to the specific household instance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collected_member_id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UUID linking the record to the specific member instance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collected_start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datetime(6)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Timestamp when data collection started on the device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collected_end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datetime(6)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Timestamp when data collection ended on the device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collected_date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endParaRPr lang="pt-PT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 the data was collected on the mobile device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created_by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UUID of the User who created the record (linked to User.id)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created_date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Timestamp when the record was created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updated_by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UUID of the last User who updated the record (linked to User.id)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updated_date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Timestamp when the record was last updated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7"/>
          <p:cNvSpPr/>
          <p:nvPr/>
        </p:nvSpPr>
        <p:spPr>
          <a:xfrm>
            <a:off x="4081780" y="1065530"/>
            <a:ext cx="7481570" cy="518795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/>
              <a:t>Data Flow Database - Staging to Final Table</a:t>
            </a:r>
            <a:endParaRPr lang="pt-PT" altLang="en-GB" sz="4000" dirty="0"/>
          </a:p>
        </p:txBody>
      </p:sp>
      <p:sp>
        <p:nvSpPr>
          <p:cNvPr id="10" name="Rectangle: Rounded Corners 7"/>
          <p:cNvSpPr/>
          <p:nvPr/>
        </p:nvSpPr>
        <p:spPr>
          <a:xfrm>
            <a:off x="198120" y="1037590"/>
            <a:ext cx="11835130" cy="5216525"/>
          </a:xfrm>
          <a:prstGeom prst="roundRect">
            <a:avLst>
              <a:gd name="adj" fmla="val 4888"/>
            </a:avLst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580380" y="2766060"/>
            <a:ext cx="874395" cy="434340"/>
            <a:chOff x="11856" y="8134"/>
            <a:chExt cx="1377" cy="684"/>
          </a:xfrm>
        </p:grpSpPr>
        <p:sp>
          <p:nvSpPr>
            <p:cNvPr id="41" name="Text Box 413"/>
            <p:cNvSpPr txBox="1"/>
            <p:nvPr/>
          </p:nvSpPr>
          <p:spPr>
            <a:xfrm>
              <a:off x="11856" y="8134"/>
              <a:ext cx="990" cy="68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Final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Database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Tables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pic>
          <p:nvPicPr>
            <p:cNvPr id="42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723" y="8225"/>
              <a:ext cx="511" cy="576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1" name="Table 10"/>
          <p:cNvGraphicFramePr/>
          <p:nvPr/>
        </p:nvGraphicFramePr>
        <p:xfrm>
          <a:off x="6640513" y="1065403"/>
          <a:ext cx="7229475" cy="497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935"/>
                <a:gridCol w="660400"/>
              </a:tblGrid>
              <a:tr h="18034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household</a:t>
                      </a:r>
                      <a:endParaRPr 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version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bigint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code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region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name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head_code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head_name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region_id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head_id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hierarchy1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gps_is_null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bit(1)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gps_accuracy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double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gps_altitude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double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gps_latitude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double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gps_longitude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double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collected_uuid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collected_by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collected_device_id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collected_household_id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collected_member_id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collected_start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datetime(6)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collected_end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datetime(6)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collected_date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endParaRPr lang="pt-PT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created_by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created_date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updated_by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updated_date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 rot="0">
            <a:off x="327660" y="2789555"/>
            <a:ext cx="874395" cy="434340"/>
            <a:chOff x="6051" y="2707"/>
            <a:chExt cx="1377" cy="684"/>
          </a:xfrm>
        </p:grpSpPr>
        <p:sp>
          <p:nvSpPr>
            <p:cNvPr id="6" name="Text Box 413"/>
            <p:cNvSpPr txBox="1"/>
            <p:nvPr/>
          </p:nvSpPr>
          <p:spPr>
            <a:xfrm>
              <a:off x="6051" y="2707"/>
              <a:ext cx="990" cy="684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Staging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Database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Tables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pic>
          <p:nvPicPr>
            <p:cNvPr id="7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18" y="2798"/>
              <a:ext cx="511" cy="576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2" name="Table 11"/>
          <p:cNvGraphicFramePr/>
          <p:nvPr/>
        </p:nvGraphicFramePr>
        <p:xfrm>
          <a:off x="1240790" y="1226820"/>
          <a:ext cx="6925945" cy="484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675"/>
                <a:gridCol w="901065"/>
              </a:tblGrid>
              <a:tr h="21082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_raw_household</a:t>
                      </a:r>
                      <a:endParaRPr lang="en-US" sz="9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id</a:t>
                      </a:r>
                      <a:endParaRPr lang="en-US" sz="9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region_code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region_name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household_code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household_name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head_code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head_name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gps_longitude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gps_altitude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gps_latitude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gps_accuracy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modules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extension_form</a:t>
                      </a:r>
                      <a:endParaRPr lang="en-US" sz="9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mediumblob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pre_registered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bit(1)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collected_by</a:t>
                      </a:r>
                      <a:endParaRPr lang="en-US" sz="9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collected_device_id</a:t>
                      </a:r>
                      <a:endParaRPr lang="en-US" sz="9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collected_start</a:t>
                      </a:r>
                      <a:endParaRPr lang="en-US" sz="9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datetime(6)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collected_end</a:t>
                      </a:r>
                      <a:endParaRPr lang="en-US" sz="9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datetime(6)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collected_date</a:t>
                      </a:r>
                      <a:endParaRPr lang="en-US" sz="9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uploaded_date</a:t>
                      </a:r>
                      <a:endParaRPr lang="en-US" sz="9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post_execution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bit(1)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processed</a:t>
                      </a:r>
                      <a:endParaRPr lang="en-US" sz="9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int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" name="Bent Arrow 438"/>
          <p:cNvSpPr/>
          <p:nvPr/>
        </p:nvSpPr>
        <p:spPr>
          <a:xfrm rot="21360000" flipV="1">
            <a:off x="3515360" y="1203325"/>
            <a:ext cx="3128010" cy="876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13" name="Table 12"/>
          <p:cNvGraphicFramePr/>
          <p:nvPr/>
        </p:nvGraphicFramePr>
        <p:xfrm>
          <a:off x="8879523" y="3762375"/>
          <a:ext cx="2505075" cy="1292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150"/>
                <a:gridCol w="923925"/>
              </a:tblGrid>
              <a:tr h="22606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household_ext</a:t>
                      </a:r>
                      <a:endParaRPr lang="en-US" sz="9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id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bigint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collected_id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household_code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household_name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head_code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head_name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Bent Arrow 438"/>
          <p:cNvSpPr/>
          <p:nvPr/>
        </p:nvSpPr>
        <p:spPr>
          <a:xfrm flipV="1">
            <a:off x="3254375" y="3853815"/>
            <a:ext cx="5625465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/>
              <a:t>Data Flow Database Data Dictionary</a:t>
            </a:r>
            <a:endParaRPr lang="pt-PT" altLang="en-GB" sz="4000" dirty="0"/>
          </a:p>
        </p:txBody>
      </p:sp>
      <p:sp>
        <p:nvSpPr>
          <p:cNvPr id="100" name="Text Box 99"/>
          <p:cNvSpPr txBox="1"/>
          <p:nvPr/>
        </p:nvSpPr>
        <p:spPr>
          <a:xfrm>
            <a:off x="2529840" y="3122930"/>
            <a:ext cx="68973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</a:rPr>
              <a:t>The data dictionary can be found in Excel File Format with all the database tables described there</a:t>
            </a:r>
            <a:r>
              <a:rPr lang="en-US" altLang="pt-PT" sz="1600">
                <a:latin typeface="Calibri" panose="020F0502020204030204" pitchFamily="34" charset="0"/>
                <a:ea typeface="SimSun" panose="02010600030101010101" pitchFamily="2" charset="-122"/>
              </a:rPr>
              <a:t> and more....</a:t>
            </a: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altLang="en-GB" sz="4000" dirty="0"/>
              <a:t>Data Flow Database - Staging Table Structure</a:t>
            </a:r>
            <a:endParaRPr lang="pt-PT" altLang="en-GB" sz="4000" dirty="0"/>
          </a:p>
        </p:txBody>
      </p:sp>
      <p:sp>
        <p:nvSpPr>
          <p:cNvPr id="100" name="Text Box 99"/>
          <p:cNvSpPr txBox="1"/>
          <p:nvPr/>
        </p:nvSpPr>
        <p:spPr>
          <a:xfrm>
            <a:off x="260985" y="1181100"/>
            <a:ext cx="6897370" cy="27997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</a:rPr>
              <a:t>The staging tables columns are subdivided as:</a:t>
            </a: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742950" lvl="1" indent="-285750">
              <a:buFont typeface="Arial" panose="020B0604020202020204" pitchFamily="34" charset="-122"/>
              <a:buChar char="•"/>
            </a:pPr>
            <a:r>
              <a:rPr lang="pt-PT" altLang="en-US" sz="1600" b="1">
                <a:latin typeface="Calibri" panose="020F0502020204030204" pitchFamily="34" charset="0"/>
                <a:ea typeface="SimSun" panose="02010600030101010101" pitchFamily="2" charset="-122"/>
              </a:rPr>
              <a:t>Record Identifier </a:t>
            </a: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</a:rPr>
              <a:t>- column </a:t>
            </a:r>
            <a:r>
              <a:rPr lang="pt-PT" altLang="en-US" sz="1600" b="1">
                <a:latin typeface="Calibri" panose="020F0502020204030204" pitchFamily="34" charset="0"/>
                <a:ea typeface="SimSun" panose="02010600030101010101" pitchFamily="2" charset="-122"/>
              </a:rPr>
              <a:t>id</a:t>
            </a: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</a:rPr>
              <a:t>, a UUID Identifier</a:t>
            </a: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742950" lvl="1" indent="-285750">
              <a:buFont typeface="Arial" panose="020B0604020202020204" pitchFamily="34" charset="-122"/>
              <a:buChar char="•"/>
            </a:pPr>
            <a:r>
              <a:rPr lang="pt-PT" altLang="en-US" sz="1600" b="1">
                <a:latin typeface="Calibri" panose="020F0502020204030204" pitchFamily="34" charset="0"/>
                <a:ea typeface="SimSun" panose="02010600030101010101" pitchFamily="2" charset="-122"/>
              </a:rPr>
              <a:t>XML Form content storage</a:t>
            </a: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</a:rPr>
              <a:t>, column extension_form</a:t>
            </a:r>
            <a:endParaRPr lang="pt-PT" altLang="en-US" sz="1600" b="1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742950" lvl="1" indent="-285750">
              <a:buFont typeface="Arial" panose="020B0604020202020204" pitchFamily="34" charset="-122"/>
              <a:buChar char="•"/>
            </a:pP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</a:rPr>
              <a:t>Extension Form XML Content</a:t>
            </a:r>
            <a:endParaRPr lang="pt-PT" altLang="en-US" sz="1600" b="1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endParaRPr lang="pt-PT" altLang="en-US" sz="1600" b="1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Mobile data collection metadata</a:t>
            </a:r>
            <a:b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</a:b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  <a:p>
            <a:pPr marL="285750" indent="-285750">
              <a:buFont typeface="Arial" panose="020B0604020202020204" pitchFamily="34" charset="-122"/>
              <a:buChar char="•"/>
            </a:pPr>
            <a:r>
              <a:rPr lang="pt-PT" altLang="en-US" sz="160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charset="-122"/>
              </a:rPr>
              <a:t>The tables track which User collected the data, the period of data collection, and the upload date of this data</a:t>
            </a:r>
            <a:endParaRPr lang="pt-PT" altLang="en-US" sz="160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charset="-122"/>
            </a:endParaRPr>
          </a:p>
        </p:txBody>
      </p:sp>
      <p:sp>
        <p:nvSpPr>
          <p:cNvPr id="3" name="Rectangle: Rounded Corners 7"/>
          <p:cNvSpPr/>
          <p:nvPr/>
        </p:nvSpPr>
        <p:spPr>
          <a:xfrm>
            <a:off x="8799830" y="1072515"/>
            <a:ext cx="2379345" cy="506603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7" name="Group 16"/>
          <p:cNvGrpSpPr/>
          <p:nvPr/>
        </p:nvGrpSpPr>
        <p:grpSpPr>
          <a:xfrm rot="0">
            <a:off x="7419340" y="3211830"/>
            <a:ext cx="874395" cy="434340"/>
            <a:chOff x="6051" y="2707"/>
            <a:chExt cx="1377" cy="684"/>
          </a:xfrm>
        </p:grpSpPr>
        <p:sp>
          <p:nvSpPr>
            <p:cNvPr id="4" name="Text Box 413"/>
            <p:cNvSpPr txBox="1"/>
            <p:nvPr/>
          </p:nvSpPr>
          <p:spPr>
            <a:xfrm>
              <a:off x="6051" y="2707"/>
              <a:ext cx="990" cy="684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Staging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Database 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  <a:p>
              <a:r>
                <a:rPr lang="en-US" altLang="zh-CN" sz="750" b="1" kern="100">
                  <a:effectLst>
                    <a:outerShdw sx="0" sy="0">
                      <a:srgbClr val="000000"/>
                    </a:outerShdw>
                  </a:effectLst>
                  <a:latin typeface="Calibri" panose="020F0502020204030204"/>
                  <a:ea typeface="SimSun" panose="02010600030101010101" pitchFamily="2" charset="-122"/>
                  <a:cs typeface="Times New Roman" panose="02020603050405020304" charset="-122"/>
                  <a:sym typeface="Times New Roman" panose="02020603050405020304" charset="-122"/>
                </a:rPr>
                <a:t>Tables</a:t>
              </a:r>
              <a:endParaRPr lang="en-US" altLang="zh-CN" sz="750" b="1" kern="100">
                <a:effectLst>
                  <a:outerShdw sx="0" sy="0">
                    <a:srgbClr val="000000"/>
                  </a:outerShdw>
                </a:effectLst>
                <a:latin typeface="Calibri" panose="020F0502020204030204"/>
                <a:ea typeface="SimSun" panose="02010600030101010101" pitchFamily="2" charset="-122"/>
                <a:cs typeface="Times New Roman" panose="02020603050405020304" charset="-122"/>
                <a:sym typeface="Times New Roman" panose="02020603050405020304" charset="-122"/>
              </a:endParaRPr>
            </a:p>
          </p:txBody>
        </p:sp>
        <p:pic>
          <p:nvPicPr>
            <p:cNvPr id="8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18" y="2798"/>
              <a:ext cx="511" cy="5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Rectangle: Rounded Corners 7"/>
          <p:cNvSpPr/>
          <p:nvPr/>
        </p:nvSpPr>
        <p:spPr>
          <a:xfrm>
            <a:off x="7330440" y="996950"/>
            <a:ext cx="4601845" cy="5216525"/>
          </a:xfrm>
          <a:prstGeom prst="roundRect">
            <a:avLst>
              <a:gd name="adj" fmla="val 4888"/>
            </a:avLst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6" name="Table 15"/>
          <p:cNvGraphicFramePr/>
          <p:nvPr/>
        </p:nvGraphicFramePr>
        <p:xfrm>
          <a:off x="8915083" y="1180973"/>
          <a:ext cx="2080260" cy="484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715"/>
                <a:gridCol w="804545"/>
              </a:tblGrid>
              <a:tr h="21082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_raw_household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varchar(32)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region_code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region_name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household_code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household_name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head_code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head_name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gps_longitude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gps_altitude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gps_latitude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gps_accuracy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endParaRPr lang="pt-PT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modules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extension_form</a:t>
                      </a:r>
                      <a:endParaRPr lang="pt-PT" alt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mediumblob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pre_registered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bit(1)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collected_by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collected_device_id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varchar(255)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collected_start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datetime(6)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collected_end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datetime(6)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collected_date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uploaded_date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datetime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post_execution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bit(1)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processed</a:t>
                      </a:r>
                      <a:endParaRPr 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pt-PT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 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int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/>
        </p:nvGraphicFramePr>
        <p:xfrm>
          <a:off x="265430" y="2896235"/>
          <a:ext cx="6854825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/>
                <a:gridCol w="39287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/>
                        <a:t>Category</a:t>
                      </a:r>
                      <a:endParaRPr lang="pt-PT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/>
                        <a:t>Table columns</a:t>
                      </a:r>
                      <a:endParaRPr lang="pt-PT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 b="0">
                          <a:latin typeface="Calibri" panose="020F0502020204030204" pitchFamily="34" charset="0"/>
                          <a:ea typeface="SimSun" panose="02010600030101010101" pitchFamily="2" charset="-122"/>
                          <a:sym typeface="+mn-ea"/>
                        </a:rPr>
                        <a:t>Record Identifier</a:t>
                      </a:r>
                      <a:endParaRPr lang="pt-PT" altLang="en-US" sz="1400" b="0">
                        <a:latin typeface="Calibri" panose="020F0502020204030204" pitchFamily="34" charset="0"/>
                        <a:ea typeface="SimSun" panose="02010600030101010101" pitchFamily="2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/>
                        <a:t>id</a:t>
                      </a:r>
                      <a:endParaRPr lang="pt-PT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/>
                        <a:t>HDSS Events fields</a:t>
                      </a:r>
                      <a:endParaRPr lang="pt-PT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ym typeface="+mn-ea"/>
                        </a:rPr>
                        <a:t>Audit Fields</a:t>
                      </a:r>
                      <a:endParaRPr lang="pt-PT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/>
                        <a:t>created_by, created_date</a:t>
                      </a:r>
                      <a:endParaRPr lang="pt-PT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/>
                        <a:t>Entity Linking and Data Integrity</a:t>
                      </a:r>
                      <a:endParaRPr lang="pt-PT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pt-PT" sz="1400"/>
                        <a:t>HDS </a:t>
                      </a:r>
                      <a:r>
                        <a:rPr lang="pt-PT" altLang="en-US" sz="1400"/>
                        <a:t>Form </a:t>
                      </a:r>
                      <a:r>
                        <a:rPr lang="en-US" altLang="pt-PT" sz="1400"/>
                        <a:t>Extension content</a:t>
                      </a:r>
                      <a:endParaRPr lang="pt-PT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/>
                        <a:t>Mobile data collection metadata</a:t>
                      </a:r>
                      <a:endParaRPr lang="pt-PT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/>
                        <a:t>Data Processing Workflow</a:t>
                      </a:r>
                      <a:endParaRPr lang="pt-PT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/>
                        <a:t>processed</a:t>
                      </a:r>
                      <a:endParaRPr lang="pt-PT" altLang="en-US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7"/>
          <p:cNvSpPr/>
          <p:nvPr/>
        </p:nvSpPr>
        <p:spPr>
          <a:xfrm>
            <a:off x="177800" y="1155700"/>
            <a:ext cx="11737975" cy="202692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69" name="Rectangle: Rounded Corners 7"/>
          <p:cNvSpPr/>
          <p:nvPr/>
        </p:nvSpPr>
        <p:spPr>
          <a:xfrm>
            <a:off x="177800" y="1155700"/>
            <a:ext cx="11737975" cy="202692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70" name="Rectangle: Rounded Corners 7"/>
          <p:cNvSpPr/>
          <p:nvPr/>
        </p:nvSpPr>
        <p:spPr>
          <a:xfrm>
            <a:off x="1080770" y="1585595"/>
            <a:ext cx="1148715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Synchronize</a:t>
            </a: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Enter Credentials</a:t>
            </a:r>
            <a:b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Synchronize</a:t>
            </a:r>
            <a:endParaRPr lang="x-none" altLang="pt-PT" sz="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" name="Rectangle: Rounded Corners 7"/>
          <p:cNvSpPr/>
          <p:nvPr/>
        </p:nvSpPr>
        <p:spPr>
          <a:xfrm>
            <a:off x="2869565" y="1564640"/>
            <a:ext cx="1148080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</a:t>
            </a:r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 a Household</a:t>
            </a:r>
            <a:endParaRPr lang="pt-PT" altLang="en-US" sz="900" dirty="0">
              <a:solidFill>
                <a:schemeClr val="tx1"/>
              </a:solidFill>
            </a:endParaRPr>
          </a:p>
        </p:txBody>
      </p:sp>
      <p:sp>
        <p:nvSpPr>
          <p:cNvPr id="72" name="Rectangle: Rounded Corners 7"/>
          <p:cNvSpPr/>
          <p:nvPr/>
        </p:nvSpPr>
        <p:spPr>
          <a:xfrm>
            <a:off x="9896475" y="1564640"/>
            <a:ext cx="1148715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Upload Data</a:t>
            </a:r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3" name="Right Arrow 72"/>
          <p:cNvSpPr/>
          <p:nvPr/>
        </p:nvSpPr>
        <p:spPr>
          <a:xfrm>
            <a:off x="2419985" y="2114550"/>
            <a:ext cx="287020" cy="153035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4" name="Right Arrow 73"/>
          <p:cNvSpPr/>
          <p:nvPr/>
        </p:nvSpPr>
        <p:spPr>
          <a:xfrm>
            <a:off x="9429115" y="2114550"/>
            <a:ext cx="287020" cy="153035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5" name="Rectangle: Rounded Corners 7"/>
          <p:cNvSpPr/>
          <p:nvPr/>
        </p:nvSpPr>
        <p:spPr>
          <a:xfrm>
            <a:off x="4605020" y="1564640"/>
            <a:ext cx="1148080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 Visit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" name="Right Arrow 75"/>
          <p:cNvSpPr/>
          <p:nvPr/>
        </p:nvSpPr>
        <p:spPr>
          <a:xfrm>
            <a:off x="4163695" y="2113915"/>
            <a:ext cx="287020" cy="152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7" name="Rectangle: Rounded Corners 7"/>
          <p:cNvSpPr/>
          <p:nvPr/>
        </p:nvSpPr>
        <p:spPr>
          <a:xfrm>
            <a:off x="6305550" y="1271905"/>
            <a:ext cx="2943860" cy="1793875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pt-PT" sz="14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Execute DSS Events</a:t>
            </a:r>
            <a:endParaRPr lang="x-none" altLang="pt-PT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br>
              <a:rPr lang="x-none" altLang="pt-PT" sz="1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One Member Enumeration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One Internal Inmigration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One Marital Relationship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One Death Registration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Collect One Vaccination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Collect One Education Form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8" name="Right Arrow 77"/>
          <p:cNvSpPr/>
          <p:nvPr/>
        </p:nvSpPr>
        <p:spPr>
          <a:xfrm>
            <a:off x="5897880" y="2115185"/>
            <a:ext cx="287020" cy="152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9" name="Rectangle: Rounded Corners 7"/>
          <p:cNvSpPr/>
          <p:nvPr/>
        </p:nvSpPr>
        <p:spPr>
          <a:xfrm>
            <a:off x="1080770" y="1585595"/>
            <a:ext cx="1148715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Synchronize</a:t>
            </a: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Enter Credentials</a:t>
            </a:r>
            <a:b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Synchronize</a:t>
            </a:r>
            <a:endParaRPr lang="x-none" altLang="pt-PT" sz="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0" name="Rectangle: Rounded Corners 7"/>
          <p:cNvSpPr/>
          <p:nvPr/>
        </p:nvSpPr>
        <p:spPr>
          <a:xfrm>
            <a:off x="2869565" y="1564640"/>
            <a:ext cx="1148080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</a:t>
            </a:r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 a Household</a:t>
            </a:r>
            <a:endParaRPr lang="pt-PT" altLang="en-US" sz="900" dirty="0">
              <a:solidFill>
                <a:schemeClr val="tx1"/>
              </a:solidFill>
            </a:endParaRPr>
          </a:p>
        </p:txBody>
      </p:sp>
      <p:sp>
        <p:nvSpPr>
          <p:cNvPr id="81" name="Rectangle: Rounded Corners 7"/>
          <p:cNvSpPr/>
          <p:nvPr/>
        </p:nvSpPr>
        <p:spPr>
          <a:xfrm>
            <a:off x="9896475" y="1564640"/>
            <a:ext cx="1148715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Upload Data</a:t>
            </a:r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2" name="Right Arrow 81"/>
          <p:cNvSpPr/>
          <p:nvPr/>
        </p:nvSpPr>
        <p:spPr>
          <a:xfrm>
            <a:off x="2419985" y="2114550"/>
            <a:ext cx="287020" cy="153035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3" name="Right Arrow 82"/>
          <p:cNvSpPr/>
          <p:nvPr/>
        </p:nvSpPr>
        <p:spPr>
          <a:xfrm>
            <a:off x="9429115" y="2114550"/>
            <a:ext cx="287020" cy="153035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4" name="Rectangle: Rounded Corners 7"/>
          <p:cNvSpPr/>
          <p:nvPr/>
        </p:nvSpPr>
        <p:spPr>
          <a:xfrm>
            <a:off x="4605020" y="1564640"/>
            <a:ext cx="1148080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 Visit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" name="Right Arrow 84"/>
          <p:cNvSpPr/>
          <p:nvPr/>
        </p:nvSpPr>
        <p:spPr>
          <a:xfrm>
            <a:off x="4163695" y="2113915"/>
            <a:ext cx="287020" cy="152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Rectangle: Rounded Corners 7"/>
          <p:cNvSpPr/>
          <p:nvPr/>
        </p:nvSpPr>
        <p:spPr>
          <a:xfrm>
            <a:off x="6305550" y="1271905"/>
            <a:ext cx="2943860" cy="1793875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pt-PT" sz="14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Execute DSS Events</a:t>
            </a:r>
            <a:endParaRPr lang="x-none" altLang="pt-PT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br>
              <a:rPr lang="x-none" altLang="pt-PT" sz="1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One Member Enumeration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One Internal Inmigration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One Marital Relationship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One Death Registration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Collect One Vaccination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Collect One Education Form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7" name="Right Arrow 86"/>
          <p:cNvSpPr/>
          <p:nvPr/>
        </p:nvSpPr>
        <p:spPr>
          <a:xfrm>
            <a:off x="5897880" y="2115185"/>
            <a:ext cx="287020" cy="152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Rectangle: Rounded Corners 7"/>
          <p:cNvSpPr/>
          <p:nvPr/>
        </p:nvSpPr>
        <p:spPr>
          <a:xfrm>
            <a:off x="177800" y="1155700"/>
            <a:ext cx="11737975" cy="202692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x-none" altLang="pt-PT" sz="4000" dirty="0"/>
              <a:t>Exercise</a:t>
            </a:r>
            <a:endParaRPr lang="x-none" altLang="pt-PT" sz="4000" dirty="0"/>
          </a:p>
        </p:txBody>
      </p:sp>
      <p:sp>
        <p:nvSpPr>
          <p:cNvPr id="35" name="Rectangle: Rounded Corners 7"/>
          <p:cNvSpPr/>
          <p:nvPr/>
        </p:nvSpPr>
        <p:spPr>
          <a:xfrm>
            <a:off x="1080770" y="1585595"/>
            <a:ext cx="1148715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Synchronize</a:t>
            </a: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Enter Credentials</a:t>
            </a:r>
            <a:b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Synchronize</a:t>
            </a:r>
            <a:endParaRPr lang="x-none" altLang="pt-PT" sz="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Rectangle: Rounded Corners 7"/>
          <p:cNvSpPr/>
          <p:nvPr/>
        </p:nvSpPr>
        <p:spPr>
          <a:xfrm>
            <a:off x="2869565" y="1564640"/>
            <a:ext cx="1148080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</a:t>
            </a:r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 a Household</a:t>
            </a:r>
            <a:endParaRPr lang="pt-PT" altLang="en-US" sz="900" dirty="0">
              <a:solidFill>
                <a:schemeClr val="tx1"/>
              </a:solidFill>
            </a:endParaRPr>
          </a:p>
        </p:txBody>
      </p:sp>
      <p:sp>
        <p:nvSpPr>
          <p:cNvPr id="37" name="Rectangle: Rounded Corners 7"/>
          <p:cNvSpPr/>
          <p:nvPr/>
        </p:nvSpPr>
        <p:spPr>
          <a:xfrm>
            <a:off x="9896475" y="1564640"/>
            <a:ext cx="1148715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Upload Data</a:t>
            </a:r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Right Arrow 37"/>
          <p:cNvSpPr/>
          <p:nvPr/>
        </p:nvSpPr>
        <p:spPr>
          <a:xfrm>
            <a:off x="2419985" y="2114550"/>
            <a:ext cx="287020" cy="153035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Right Arrow 38"/>
          <p:cNvSpPr/>
          <p:nvPr/>
        </p:nvSpPr>
        <p:spPr>
          <a:xfrm>
            <a:off x="9429115" y="2114550"/>
            <a:ext cx="287020" cy="153035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ectangle: Rounded Corners 7"/>
          <p:cNvSpPr/>
          <p:nvPr/>
        </p:nvSpPr>
        <p:spPr>
          <a:xfrm>
            <a:off x="4605020" y="1564640"/>
            <a:ext cx="1148080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 Visit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Right Arrow 40"/>
          <p:cNvSpPr/>
          <p:nvPr/>
        </p:nvSpPr>
        <p:spPr>
          <a:xfrm>
            <a:off x="4163695" y="2113915"/>
            <a:ext cx="287020" cy="152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Rectangle: Rounded Corners 7"/>
          <p:cNvSpPr/>
          <p:nvPr/>
        </p:nvSpPr>
        <p:spPr>
          <a:xfrm>
            <a:off x="6305550" y="1271905"/>
            <a:ext cx="2943860" cy="1793875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pt-PT" sz="14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Execute DSS Events</a:t>
            </a:r>
            <a:endParaRPr lang="x-none" altLang="pt-PT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br>
              <a:rPr lang="x-none" altLang="pt-PT" sz="1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One Member Enumeration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One Internal Inmigration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One Marital Relationship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One Death Registration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Collect One Vaccination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Collect One Education Form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Right Arrow 42"/>
          <p:cNvSpPr/>
          <p:nvPr/>
        </p:nvSpPr>
        <p:spPr>
          <a:xfrm>
            <a:off x="5897880" y="2115185"/>
            <a:ext cx="287020" cy="152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: Rounded Corners 7"/>
          <p:cNvSpPr/>
          <p:nvPr/>
        </p:nvSpPr>
        <p:spPr>
          <a:xfrm>
            <a:off x="1080770" y="1585595"/>
            <a:ext cx="1148715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Synchronize</a:t>
            </a: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Enter Credentials</a:t>
            </a:r>
            <a:b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Synchronize</a:t>
            </a:r>
            <a:endParaRPr lang="x-none" altLang="pt-PT" sz="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ctangle: Rounded Corners 7"/>
          <p:cNvSpPr/>
          <p:nvPr/>
        </p:nvSpPr>
        <p:spPr>
          <a:xfrm>
            <a:off x="2869565" y="1564640"/>
            <a:ext cx="1148080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</a:t>
            </a:r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 a Household</a:t>
            </a:r>
            <a:endParaRPr lang="pt-PT" altLang="en-US" sz="9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7"/>
          <p:cNvSpPr/>
          <p:nvPr/>
        </p:nvSpPr>
        <p:spPr>
          <a:xfrm>
            <a:off x="9896475" y="1564640"/>
            <a:ext cx="1148715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Upload Data</a:t>
            </a:r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2419985" y="2114550"/>
            <a:ext cx="287020" cy="153035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9429115" y="2114550"/>
            <a:ext cx="287020" cy="153035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Rectangle: Rounded Corners 7"/>
          <p:cNvSpPr/>
          <p:nvPr/>
        </p:nvSpPr>
        <p:spPr>
          <a:xfrm>
            <a:off x="4605020" y="1564640"/>
            <a:ext cx="1148080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 Visit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4163695" y="2113915"/>
            <a:ext cx="287020" cy="152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Rectangle: Rounded Corners 7"/>
          <p:cNvSpPr/>
          <p:nvPr/>
        </p:nvSpPr>
        <p:spPr>
          <a:xfrm>
            <a:off x="6305550" y="1271905"/>
            <a:ext cx="2943860" cy="1793875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pt-PT" sz="14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Execute DSS Events</a:t>
            </a:r>
            <a:endParaRPr lang="x-none" altLang="pt-PT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br>
              <a:rPr lang="x-none" altLang="pt-PT" sz="1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One Member Enumeration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One Internal Inmigration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One Marital Relationship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One Death Registration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Collect One Vaccination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Collect One Education Form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5897880" y="2115185"/>
            <a:ext cx="287020" cy="152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Rectangle: Rounded Corners 7"/>
          <p:cNvSpPr/>
          <p:nvPr/>
        </p:nvSpPr>
        <p:spPr>
          <a:xfrm>
            <a:off x="1080770" y="1585595"/>
            <a:ext cx="1148715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Synchronize</a:t>
            </a:r>
            <a:b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Enter Credentials</a:t>
            </a:r>
            <a:b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Synchronize</a:t>
            </a:r>
            <a:endParaRPr lang="x-none" altLang="pt-PT" sz="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Rectangle: Rounded Corners 7"/>
          <p:cNvSpPr/>
          <p:nvPr/>
        </p:nvSpPr>
        <p:spPr>
          <a:xfrm>
            <a:off x="2869565" y="1564640"/>
            <a:ext cx="1148080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</a:t>
            </a:r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 a Household</a:t>
            </a:r>
            <a:endParaRPr lang="pt-PT" altLang="en-US" sz="9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7"/>
          <p:cNvSpPr/>
          <p:nvPr/>
        </p:nvSpPr>
        <p:spPr>
          <a:xfrm>
            <a:off x="9896475" y="1564640"/>
            <a:ext cx="1148715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Upload Data</a:t>
            </a:r>
            <a:endParaRPr lang="pt-PT" alt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2419985" y="2114550"/>
            <a:ext cx="287020" cy="153035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Right Arrow 47"/>
          <p:cNvSpPr/>
          <p:nvPr/>
        </p:nvSpPr>
        <p:spPr>
          <a:xfrm>
            <a:off x="9429115" y="2114550"/>
            <a:ext cx="287020" cy="153035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Rectangle: Rounded Corners 7"/>
          <p:cNvSpPr/>
          <p:nvPr/>
        </p:nvSpPr>
        <p:spPr>
          <a:xfrm>
            <a:off x="4605020" y="1564640"/>
            <a:ext cx="1148080" cy="1209040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 Visit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" name="Right Arrow 51"/>
          <p:cNvSpPr/>
          <p:nvPr/>
        </p:nvSpPr>
        <p:spPr>
          <a:xfrm>
            <a:off x="4163695" y="2113915"/>
            <a:ext cx="287020" cy="152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3" name="Rectangle: Rounded Corners 7"/>
          <p:cNvSpPr/>
          <p:nvPr/>
        </p:nvSpPr>
        <p:spPr>
          <a:xfrm>
            <a:off x="6305550" y="1271905"/>
            <a:ext cx="2943860" cy="1793875"/>
          </a:xfrm>
          <a:prstGeom prst="roundRect">
            <a:avLst>
              <a:gd name="adj" fmla="val 4888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2700000" sx="97000" sy="97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pt-PT" sz="14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Execute DSS Events</a:t>
            </a:r>
            <a:endParaRPr lang="x-none" altLang="pt-PT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br>
              <a:rPr lang="x-none" altLang="pt-PT" sz="1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One Member Enumeration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One Internal Inmigration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One Marital Relationship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One Death Registration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Collect One Vaccination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Collect One Education Form</a:t>
            </a:r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x-none" altLang="pt-PT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" name="Right Arrow 58"/>
          <p:cNvSpPr/>
          <p:nvPr/>
        </p:nvSpPr>
        <p:spPr>
          <a:xfrm>
            <a:off x="5897880" y="2115185"/>
            <a:ext cx="287020" cy="152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93" name="Group 92"/>
          <p:cNvGrpSpPr/>
          <p:nvPr/>
        </p:nvGrpSpPr>
        <p:grpSpPr>
          <a:xfrm>
            <a:off x="177800" y="1155700"/>
            <a:ext cx="11737340" cy="2026920"/>
            <a:chOff x="280" y="1820"/>
            <a:chExt cx="18484" cy="3192"/>
          </a:xfrm>
        </p:grpSpPr>
        <p:sp>
          <p:nvSpPr>
            <p:cNvPr id="33" name="Rectangle: Rounded Corners 7"/>
            <p:cNvSpPr/>
            <p:nvPr/>
          </p:nvSpPr>
          <p:spPr>
            <a:xfrm>
              <a:off x="280" y="1820"/>
              <a:ext cx="18485" cy="3192"/>
            </a:xfrm>
            <a:prstGeom prst="roundRect">
              <a:avLst>
                <a:gd name="adj" fmla="val 488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/>
            </a:p>
          </p:txBody>
        </p:sp>
        <p:sp>
          <p:nvSpPr>
            <p:cNvPr id="34" name="Text Box 33"/>
            <p:cNvSpPr txBox="1"/>
            <p:nvPr/>
          </p:nvSpPr>
          <p:spPr>
            <a:xfrm>
              <a:off x="418" y="1820"/>
              <a:ext cx="300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pt-PT" altLang="en-US" sz="1400" b="1" u="sng"/>
                <a:t>Mobile Application</a:t>
              </a:r>
              <a:endParaRPr lang="pt-PT" altLang="en-US" sz="1400" b="1" u="sng"/>
            </a:p>
          </p:txBody>
        </p:sp>
        <p:sp>
          <p:nvSpPr>
            <p:cNvPr id="60" name="Rectangle: Rounded Corners 7"/>
            <p:cNvSpPr/>
            <p:nvPr/>
          </p:nvSpPr>
          <p:spPr>
            <a:xfrm>
              <a:off x="1702" y="2497"/>
              <a:ext cx="1809" cy="1904"/>
            </a:xfrm>
            <a:prstGeom prst="roundRect">
              <a:avLst>
                <a:gd name="adj" fmla="val 4888"/>
              </a:avLst>
            </a:prstGeom>
            <a:solidFill>
              <a:schemeClr val="bg1"/>
            </a:solidFill>
            <a:ln>
              <a:noFill/>
            </a:ln>
            <a:effectLst>
              <a:glow rad="228600">
                <a:schemeClr val="accent3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pt-PT" altLang="en-US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Synchronize</a:t>
              </a:r>
              <a:br>
                <a:rPr lang="pt-PT" altLang="en-US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:r>
                <a:rPr lang="x-none" altLang="pt-PT" sz="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1. Enter Credentials</a:t>
              </a:r>
              <a:br>
                <a:rPr lang="x-none" altLang="pt-PT" sz="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:r>
                <a:rPr lang="x-none" altLang="pt-PT" sz="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2. Synchronize</a:t>
              </a:r>
              <a:endParaRPr lang="x-none" altLang="pt-PT" sz="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" name="Rectangle: Rounded Corners 7"/>
            <p:cNvSpPr/>
            <p:nvPr/>
          </p:nvSpPr>
          <p:spPr>
            <a:xfrm>
              <a:off x="4519" y="2464"/>
              <a:ext cx="1808" cy="1904"/>
            </a:xfrm>
            <a:prstGeom prst="roundRect">
              <a:avLst>
                <a:gd name="adj" fmla="val 4888"/>
              </a:avLst>
            </a:prstGeom>
            <a:solidFill>
              <a:schemeClr val="bg1"/>
            </a:solidFill>
            <a:ln>
              <a:noFill/>
            </a:ln>
            <a:effectLst>
              <a:outerShdw blurRad="203200" dist="38100" dir="2700000" sx="97000" sy="97000" algn="tl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pt-PT" altLang="en-US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Se</a:t>
              </a:r>
              <a:r>
                <a:rPr lang="x-none" altLang="pt-PT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arch a Household</a:t>
              </a:r>
              <a:endParaRPr lang="pt-PT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: Rounded Corners 7"/>
            <p:cNvSpPr/>
            <p:nvPr/>
          </p:nvSpPr>
          <p:spPr>
            <a:xfrm>
              <a:off x="15585" y="2464"/>
              <a:ext cx="1809" cy="1904"/>
            </a:xfrm>
            <a:prstGeom prst="roundRect">
              <a:avLst>
                <a:gd name="adj" fmla="val 4888"/>
              </a:avLst>
            </a:prstGeom>
            <a:solidFill>
              <a:schemeClr val="bg1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  <a:outerShdw blurRad="203200" dist="38100" dir="2700000" sx="97000" sy="97000" algn="tl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pt-PT" altLang="en-US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Upload Data</a:t>
              </a:r>
              <a:endParaRPr lang="pt-PT" altLang="en-US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" name="Right Arrow 62"/>
            <p:cNvSpPr/>
            <p:nvPr/>
          </p:nvSpPr>
          <p:spPr>
            <a:xfrm>
              <a:off x="3811" y="3330"/>
              <a:ext cx="452" cy="241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4" name="Right Arrow 63"/>
            <p:cNvSpPr/>
            <p:nvPr/>
          </p:nvSpPr>
          <p:spPr>
            <a:xfrm>
              <a:off x="14849" y="3330"/>
              <a:ext cx="452" cy="241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5" name="Rectangle: Rounded Corners 7"/>
            <p:cNvSpPr/>
            <p:nvPr/>
          </p:nvSpPr>
          <p:spPr>
            <a:xfrm>
              <a:off x="7252" y="2464"/>
              <a:ext cx="1808" cy="1904"/>
            </a:xfrm>
            <a:prstGeom prst="roundRect">
              <a:avLst>
                <a:gd name="adj" fmla="val 4888"/>
              </a:avLst>
            </a:prstGeom>
            <a:solidFill>
              <a:schemeClr val="bg1"/>
            </a:solidFill>
            <a:ln>
              <a:noFill/>
            </a:ln>
            <a:effectLst>
              <a:outerShdw blurRad="203200" dist="38100" dir="2700000" sx="97000" sy="97000" algn="tl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pt-PT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Create a Visit</a:t>
              </a:r>
              <a:endPara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" name="Right Arrow 65"/>
            <p:cNvSpPr/>
            <p:nvPr/>
          </p:nvSpPr>
          <p:spPr>
            <a:xfrm>
              <a:off x="6557" y="3329"/>
              <a:ext cx="452" cy="240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7" name="Rectangle: Rounded Corners 7"/>
            <p:cNvSpPr/>
            <p:nvPr/>
          </p:nvSpPr>
          <p:spPr>
            <a:xfrm>
              <a:off x="9930" y="2003"/>
              <a:ext cx="4636" cy="2825"/>
            </a:xfrm>
            <a:prstGeom prst="roundRect">
              <a:avLst>
                <a:gd name="adj" fmla="val 4888"/>
              </a:avLst>
            </a:prstGeom>
            <a:solidFill>
              <a:schemeClr val="bg1"/>
            </a:solidFill>
            <a:ln>
              <a:noFill/>
            </a:ln>
            <a:effectLst>
              <a:outerShdw blurRad="203200" dist="38100" dir="2700000" sx="97000" sy="97000" algn="tl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pt-PT" sz="1400" u="sng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Execute DSS Events</a:t>
              </a:r>
              <a:endParaRPr lang="x-none" altLang="pt-PT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l"/>
              <a:br>
                <a:rPr lang="x-none" altLang="pt-PT" sz="11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:r>
                <a:rPr lang="x-none" altLang="pt-PT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1. One Member Enumeration</a:t>
              </a:r>
              <a:endPara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l"/>
              <a:r>
                <a:rPr lang="x-none" altLang="pt-PT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2. One Internal Inmigration</a:t>
              </a:r>
              <a:endPara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l"/>
              <a:r>
                <a:rPr lang="x-none" altLang="pt-PT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3. One Marital Relationship</a:t>
              </a:r>
              <a:endPara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l"/>
              <a:r>
                <a:rPr lang="x-none" altLang="pt-PT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4. One Death Registration</a:t>
              </a:r>
              <a:endPara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l"/>
              <a:r>
                <a:rPr lang="x-none" altLang="pt-PT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5. Collect One Vaccination</a:t>
              </a:r>
              <a:endPara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l"/>
              <a:r>
                <a:rPr lang="x-none" altLang="pt-PT" sz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6. Collect One Education Form</a:t>
              </a:r>
              <a:endPara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l"/>
              <a:endParaRPr lang="x-none" altLang="pt-PT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8" name="Right Arrow 67"/>
            <p:cNvSpPr/>
            <p:nvPr/>
          </p:nvSpPr>
          <p:spPr>
            <a:xfrm>
              <a:off x="9288" y="3331"/>
              <a:ext cx="452" cy="240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</p:spTree>
  </p:cSld>
  <p:clrMapOvr>
    <a:masterClrMapping/>
  </p:clrMapOvr>
  <p:transition/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17319</Words>
  <Application>WPS Presentation</Application>
  <PresentationFormat>Widescreen</PresentationFormat>
  <Paragraphs>1374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Arial</vt:lpstr>
      <vt:lpstr>SimSun</vt:lpstr>
      <vt:lpstr>Wingdings</vt:lpstr>
      <vt:lpstr>Arial</vt:lpstr>
      <vt:lpstr>Wingdings 3</vt:lpstr>
      <vt:lpstr>Calibri</vt:lpstr>
      <vt:lpstr>Gordita Medium</vt:lpstr>
      <vt:lpstr>C059</vt:lpstr>
      <vt:lpstr>Times New Roman</vt:lpstr>
      <vt:lpstr>Calibri</vt:lpstr>
      <vt:lpstr>Century Gothic</vt:lpstr>
      <vt:lpstr>微软雅黑</vt:lpstr>
      <vt:lpstr>Arial Unicode MS</vt:lpstr>
      <vt:lpstr>Calibri Light</vt:lpstr>
      <vt:lpstr>Calibri</vt:lpstr>
      <vt:lpstr>Custom Design</vt:lpstr>
      <vt:lpstr>Wisp</vt:lpstr>
      <vt:lpstr>Retrospect</vt:lpstr>
      <vt:lpstr>HDS-Explorer</vt:lpstr>
      <vt:lpstr>Data Collection</vt:lpstr>
      <vt:lpstr>Data Collection Forms</vt:lpstr>
      <vt:lpstr>Data Collection Technologies</vt:lpstr>
      <vt:lpstr>Data Flow Server Components</vt:lpstr>
      <vt:lpstr>Data Flow Process</vt:lpstr>
      <vt:lpstr>Data Flow Process - Staging Tables</vt:lpstr>
      <vt:lpstr>Data Flow Process - Staging Tables</vt:lpstr>
      <vt:lpstr>Data Flow Database - Staging Tables</vt:lpstr>
      <vt:lpstr>Data Flow Database - Staging Table Structure</vt:lpstr>
      <vt:lpstr>Data Flow Database - Staging Table Structure</vt:lpstr>
      <vt:lpstr>Data Flow Database - Final Table Structure</vt:lpstr>
      <vt:lpstr>Data Flow Database - Final Table Structure</vt:lpstr>
      <vt:lpstr>Data Flow Database - Staging to Final Table</vt:lpstr>
      <vt:lpstr>Data Flow Database Data Dictionary</vt:lpstr>
      <vt:lpstr>Data Flow Database - Staging Table Structure</vt:lpstr>
      <vt:lpstr>Exercise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vagner Pene</dc:creator>
  <cp:lastModifiedBy>paul</cp:lastModifiedBy>
  <cp:revision>480</cp:revision>
  <dcterms:created xsi:type="dcterms:W3CDTF">2026-09-01T22:27:40Z</dcterms:created>
  <dcterms:modified xsi:type="dcterms:W3CDTF">2026-09-01T22:27:40Z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